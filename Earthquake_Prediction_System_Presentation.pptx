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97" r:id="rId8"/>
    <p:sldId id="298" r:id="rId9"/>
    <p:sldId id="261" r:id="rId10"/>
    <p:sldId id="299" r:id="rId11"/>
    <p:sldId id="300" r:id="rId12"/>
    <p:sldId id="263" r:id="rId13"/>
    <p:sldId id="301" r:id="rId14"/>
    <p:sldId id="265" r:id="rId15"/>
    <p:sldId id="266" r:id="rId16"/>
    <p:sldId id="267" r:id="rId17"/>
    <p:sldId id="270" r:id="rId18"/>
    <p:sldId id="302" r:id="rId19"/>
    <p:sldId id="271" r:id="rId20"/>
    <p:sldId id="292" r:id="rId21"/>
    <p:sldId id="274" r:id="rId22"/>
    <p:sldId id="275" r:id="rId23"/>
    <p:sldId id="293" r:id="rId24"/>
    <p:sldId id="276" r:id="rId25"/>
    <p:sldId id="294" r:id="rId26"/>
    <p:sldId id="295" r:id="rId27"/>
    <p:sldId id="296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88" autoAdjust="0"/>
  </p:normalViewPr>
  <p:slideViewPr>
    <p:cSldViewPr>
      <p:cViewPr varScale="1">
        <p:scale>
          <a:sx n="74" d="100"/>
          <a:sy n="74" d="100"/>
        </p:scale>
        <p:origin x="12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926B9CC-8DF7-433C-BD5A-233AE4379C00}" type="datetimeFigureOut">
              <a:rPr lang="en-US" smtClean="0"/>
              <a:pPr/>
              <a:t>2/28/2018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Earthquake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Spark Foundation Track for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UPx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Done By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Name :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Shubhro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Banerjee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Introduction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Domain :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Disaster Management and Recovery</a:t>
            </a:r>
            <a:endParaRPr lang="en-US" b="1" dirty="0" smtClean="0"/>
          </a:p>
          <a:p>
            <a:pPr>
              <a:buNone/>
            </a:pPr>
            <a:endParaRPr lang="en-US" sz="2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2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</a:rPr>
              <a:t>Technology Used:  Spark SQL and Hive QL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 design a Real-Time Earthquake Detection Model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send lifesaving alerts,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which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should improve its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machine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learning to provide near real-time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computation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results.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will use the dataset to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obtain </a:t>
            </a: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ROC (Receiver Operating Characteristic) value </a:t>
            </a: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using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Machine Learning in Apache Spark..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Data is present in a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xls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file i.e. data.xls</a:t>
            </a:r>
            <a:endParaRPr lang="en-US" sz="1600" dirty="0" smtClean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File comprises following fields: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I.   Classification Index	IX.  First Activity Time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II.  First Activity Time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  Time Taken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III. Time Taken	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 Acceleration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IV.  Acceleration	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XII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Building Strength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V.   Building Strength	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XIII.Velocity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VI.  Velocity	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XIV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Sa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VII. Sa		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XV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. 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Sd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VIII.Sd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Where,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(II-VIII) are features of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primay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wave and (IX-XV) are features of secondary wave.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(XIV and XV) i.e. Sa and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of secondary wave can have NULL values.</a:t>
            </a:r>
          </a:p>
          <a:p>
            <a:pPr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Technical Architecture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 am creating a spark SQL application using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scala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programming language to answer the business questions. I have used Hive QL to validate the results.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 Machine learning, I shall be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using Binary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classification model to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separate the elements of a given dataset into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two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possible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based on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Classification_Index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field in the data and then calculate area under ROC.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Load data In Spark Shell</a:t>
            </a:r>
            <a:endParaRPr lang="en-US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STEP-1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Load data.xls into 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remove the header.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ep_rdd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sb_spk_proj_earthquake_prediction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/data.xls")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ep_header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ep_rdd.first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 smtClean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ep_record_rdd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ep_rdd.filter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 =&gt; (x !=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ep_header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x != ""))                      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3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Load data In Spark Shell (Contd..)</a:t>
            </a:r>
            <a:endParaRPr lang="en-US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STEP-2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replace the NULL values with Zero.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ep_record_list_rdd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ep_record_rdd.map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x =&gt; 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 = List[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]()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(",")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&lt;- 0 to arr.size-1) { l=l++List(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} 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l.size</a:t>
            </a:r>
            <a:endParaRPr lang="en-US" sz="1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l_zero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List(0)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 j &lt;-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14 ) { l=l++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l_zero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l.mkString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(",")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STEP-3</a:t>
            </a:r>
            <a:r>
              <a:rPr lang="en-US" sz="21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schema to map the data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class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ep_schema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assification_Index:Integer,First_Activity_Time1:Integer,Time_Taken1:Integer,Acceleration1:Integer,Building_Strength1:Integer,Velocity1:Integer,Sa1:Integer,Sd1:Integer,First_Activity_Time2:Integer,Time_Taken2:Integer,Acceleration2:Integer,Building_Strength2:Integer,Velocity2:Integer,Sa2:Integer,Sd2:Integer)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Load data In Spark Shell (Contd..)</a:t>
            </a:r>
            <a:endParaRPr lang="en-US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u="sng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STEP-4</a:t>
            </a:r>
            <a:r>
              <a:rPr lang="en-US" sz="64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map the data rows to schema.</a:t>
            </a:r>
          </a:p>
          <a:p>
            <a:pPr marL="0" indent="0">
              <a:buNone/>
            </a:pPr>
            <a:r>
              <a:rPr lang="en-US" sz="4800" dirty="0" err="1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 smtClean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ep_record_int_rdd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ep_record_list_rdd.map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x =&gt;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(",")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Classification_Index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First_Activity_Time1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Time_Taken1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Acceleration1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Building_Strength1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Velocity1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Sa1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Sd1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(7).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First_Activity_Time2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Time_Taken2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Acceleration2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Building_Strength2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(11).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Velocity2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Sa2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(13).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Sd2 = 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(14).</a:t>
            </a: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</a:t>
            </a:r>
            <a:endParaRPr lang="en-US" sz="48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8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ep_schema</a:t>
            </a: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(Classification_Index,First_Activity_Time1,Time_Taken1,Acceleration1,Building_Strength1,Velocity1,Sa1,Sd1,First_Activity_Time2,Time_Taken2,Acceleration2,Building_Strength2,Velocity2,Sa2,Sd2)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4800" dirty="0" smtClean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3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Insert a column “Total Weight” which contains sum of respective cells in (II) to (XV)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dataframe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and register as a temporary table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ep_df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ep_record_int_rdd.toDF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14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ep_df.registerTempTable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4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7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another data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frame with </a:t>
            </a:r>
            <a:r>
              <a:rPr lang="en-US" sz="17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Total_Weight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field present,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case1_Tot_Wt_DF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Classification_Index,First_Activity_Time1,Time_Taken1,Acceleration1,Building_Strength1,Velocity1,Sa1,Sd1,First_Activity_Time2,Time_Taken2,Acceleration2,Building_Strength2,Velocity2,Sa2,Sd2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,(First_Activity_Time1+Time_Taken1+Acceleration1+Building_Strength1+Velocity1+Sa1+Sd1+First_Activity_Time2+Time_Taken2+Acceleration2+Building_Strength2+Velocity2+Sa2+Sd2) AS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Total_Weight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1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register as temporary and query for total Weight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case1_Tot_Wt_DF.registerTempTable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("ep_table_case1")</a:t>
            </a: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case1_df =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ep_table_case1 LIMIT 5")</a:t>
            </a: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case1_df.rdd.saveAsTextFile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sb_spk_proj_earthquake_prediction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/CASE1a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03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1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Results</a:t>
            </a:r>
            <a:r>
              <a:rPr 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</a:p>
          <a:p>
            <a:pPr>
              <a:buNone/>
            </a:pPr>
            <a:endParaRPr 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+--------------------+--------------------+-----------+-------------+------------------+---------+---+---+--------------------+-----------+-------------+------------------+---------+---+---+------------+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|Classification_Index|First_Activity_Time1|Time_Taken1|Acceleration1|Building_Strength1|Velocity1|Sa1|Sd1|First_Activity_Time2|Time_Taken2|Acceleration2|Building_Strength2|Velocity2|Sa2|Sd2|Total_Weight|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+--------------------+--------------------+-----------+-------------+------------------+---------+---+---+--------------------+-----------+-------------+------------------+---------+---+---+------------+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        0|                   3|         11|           14|                19|       39| 42| 55|                  64|         67|           73|                75|       76| 80| 83|         701|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        0|                   3|          6|           17|                27|       35| 40| 57|                  63|         69|           73|                74|       76| 81|103|         724|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        0|                   4|          6|           15|                21|       35| 40| 57|                  63|         67|           73|                74|       77| 80| 83|         695|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        0|                   5|          6|           15|                22|       36| 41| 47|                  66|         67|           72|                74|       76| 80| 83|         690|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        0|                   2|          6|           16|                22|       36| 40| 54|                  63|         67|           73|                75|       76| 80| 83|         693|</a:t>
            </a:r>
          </a:p>
          <a:p>
            <a:pPr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+--------------------+--------------------+-----------+-------------+------------------+---------+---+---+--------------------+-----------+-------------+------------------+---------+---+---+------------+</a:t>
            </a: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9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the Building Strength(s) for the maximum velocity in the Primary Wave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select the maximum velocity of primary wave in the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ep_table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("SELECT MAX(Velocity1) 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</a:p>
          <a:p>
            <a:pPr>
              <a:buNone/>
            </a:pP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+---+</a:t>
            </a:r>
          </a:p>
          <a:p>
            <a:pPr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|_c0|</a:t>
            </a:r>
          </a:p>
          <a:p>
            <a:pPr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+---+</a:t>
            </a:r>
          </a:p>
          <a:p>
            <a:pPr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| 45|</a:t>
            </a:r>
          </a:p>
          <a:p>
            <a:pPr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+---+</a:t>
            </a:r>
          </a:p>
          <a:p>
            <a:pPr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find the building strength of primary and secondary wave for maximum 	velocity.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("SELECT Building_Strength1,Building_Strength2 FROM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Velocity1 = 45").show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RESULTS: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+------------------+------------------+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|Building_Strength1|Building_Strength2|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+------------------+------------------+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      35|                78|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      35|                80|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      37|                80|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      39|                80|</a:t>
            </a:r>
          </a:p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+------------------+------------------+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9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the average value of Sa for both primary and secondary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wave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STEP-1: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average values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case1c_avg_Sa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("SELECT AVG(Sa1) as AVG_SA1,AVG(Sa2) as AVG_SA2 FROM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  <a:p>
            <a:pPr marL="0" indent="0">
              <a:buNone/>
            </a:pPr>
            <a:endParaRPr lang="en-US" sz="1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+-----------------+-----------------+</a:t>
            </a:r>
          </a:p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         AVG_SA1|          AVG_SA2|</a:t>
            </a:r>
          </a:p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+-----------------+-----------------+</a:t>
            </a:r>
          </a:p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|42.33395638629283|75.46604361370717|</a:t>
            </a:r>
          </a:p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+-----------------+-----------------+</a:t>
            </a:r>
          </a:p>
          <a:p>
            <a:pPr marL="0" indent="0">
              <a:buNone/>
            </a:pPr>
            <a:endParaRPr lang="en-US" sz="1600" b="1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proj1_user_rating_age_rdd = proj1_user_rating_group_rdd.map { x =&gt;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age = x._1 match {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"1" =&gt; "Under 18"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"18" =&gt;  "18-24"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"25" =&gt;  "25-34"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"35" =&gt;  "35-44"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"45" =&gt;  "45-49"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"50" =&gt;  "50-55"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"56" =&gt;  "56+" }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rate_count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x._2.size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rate_sum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x._2.sum</a:t>
            </a:r>
          </a:p>
          <a:p>
            <a:pPr>
              <a:buNone/>
            </a:pP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rate_avg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rate_sum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rate_count</a:t>
            </a:r>
            <a:endParaRPr lang="en-US" sz="1300" dirty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age,rate_avg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3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00" dirty="0" smtClean="0">
              <a:solidFill>
                <a:schemeClr val="tx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store to HDFS.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proj1_user_rating_age_rdd.saveAsTextFile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avg_rating_by_age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Count the number of instances where Building strength remains equal to or greater than 25 after the secondary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wave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("SELECT count(*) as INSTANCE_BS FROM 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Building_Strength2 &gt;= 25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RESULTS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+-----------+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|INSTANCE_BS|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+-----------+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1605|</a:t>
            </a:r>
          </a:p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+-----------+</a:t>
            </a:r>
          </a:p>
          <a:p>
            <a:pPr>
              <a:buNone/>
            </a:pP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the velocity for the primary wave which takes the maximum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time.</a:t>
            </a:r>
          </a:p>
          <a:p>
            <a:pPr marL="0" indent="0"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STEP-1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find the maximum time taken by primary wave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("SELECT MAX(Time_Taken1) FROM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+---+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|_c0|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+---+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18|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+---+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find the velocity of the primary waves which take this time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("SELECT DISTINCT(Velocity1) FROM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Time_Taken1 = 18").show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RESULT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+---------+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|Velocity1|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+---------+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40|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41|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42|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43|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+---------+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Alternate Way: 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sqlContext.sql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 SELECT DISTINCT(ev1.Velocity1) FROM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ev1 LEFT SEMI JOIN (SELECT MAX(Time_Taken1) AS MAX_TT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ep_table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)ev2 ON (ev1.Time_Taken1 = ev2.MAX_TT) ").show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80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Arial Black" pitchFamily="34" charset="0"/>
              </a:rPr>
              <a:t>:::::::::Business </a:t>
            </a:r>
            <a:r>
              <a:rPr lang="en-US" sz="3200" dirty="0" smtClean="0">
                <a:latin typeface="Arial Black" pitchFamily="34" charset="0"/>
              </a:rPr>
              <a:t>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J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oin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them with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Movies data to get the movie name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proj1_movie_map_rdd = proj1_movie_rdd.map { x =&gt; 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=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movieID,title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proj1_rate_join_movies_rdd =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proj1_rate_total_rdd.join(proj1_movie_map_rdd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proj1_highest_rated_mv_rdd =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proj1_rate_join_movies_rdd.map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 =&gt; (x._2._2,x._2._1) ).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sortBy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(_._2,false)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STEP-3: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Store to HDFS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proj1_highest_rated_mv_rdd.coalesce(1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saveAsTextFile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highest_rated_movies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Array((American Beauty (1999),14800), (Star Wars: Episode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A New Hope (1977),13321),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 Wars: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Episode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- The Empire Strikes Back (1980),12836),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 Wars: Episode VI - Return of the Jedi (1983),11598), (Saving Private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Ryan(1998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),11507),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Raiders of the Lost Ark (1981),11257),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Silence of the Lambs, The (1991),11219),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Matrix, The (1999),11178),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(Sixth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Sense, The (1999),10835),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Terminator 2: Judgment Day (1991),10751))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84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Add personal ratings to the movies and train a model to provide movie recommendation based on the personal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ratings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7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STEP-1:</a:t>
            </a:r>
            <a:r>
              <a:rPr lang="en-US" sz="1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Create data. I have created a new user entries as,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users1.dat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::Gender::Age::Occupation::Zip-code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6041::M::25::17::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22205</a:t>
            </a: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Where ‘6041’ is a new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in addition to existing data.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 have configured the ratings1.dat file to imply 6041 user has provided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following rating to the following genres,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Drama and comedy movies have been rated ‘5’,.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movies have been rated ‘4’ , 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romantic movies have been rated ‘1’.</a:t>
            </a:r>
          </a:p>
          <a:p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romantic comedies have been rated ‘3’.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7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4900" b="1" u="sng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Ratings1.dat</a:t>
            </a:r>
          </a:p>
          <a:p>
            <a:pPr>
              <a:buNone/>
            </a:pPr>
            <a:r>
              <a:rPr lang="en-US" sz="49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9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::Rating::Timestamp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6041::14::5::968116315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6041::26::5::968116315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6041::27::5::968116315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6041::31::5::968116315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6041::40::5::968116315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6041::52::5::968116315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6041::69::5::968116315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6041::9::4::968116315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6041::20::4::968116315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6041::145::4::968116315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6041::17::1::968116315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6041::25::1::968116315</a:t>
            </a:r>
          </a:p>
          <a:p>
            <a:pPr>
              <a:buNone/>
            </a:pPr>
            <a:r>
              <a:rPr lang="en-US" sz="49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6041::35::1::968116315</a:t>
            </a:r>
          </a:p>
          <a:p>
            <a:pPr>
              <a:buNone/>
            </a:pPr>
            <a:endParaRPr lang="en-US" sz="4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(contd.)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u="sng" dirty="0" smtClean="0">
                <a:latin typeface="Arial Black" panose="020B0A04020102020204" pitchFamily="34" charset="0"/>
                <a:cs typeface="Courier New" panose="02070309020205020404" pitchFamily="49" charset="0"/>
              </a:rPr>
              <a:t>Ratings1.dat (</a:t>
            </a:r>
            <a:r>
              <a:rPr lang="en-US" sz="1600" u="sng" dirty="0" err="1" smtClean="0">
                <a:latin typeface="Arial Black" panose="020B0A04020102020204" pitchFamily="34" charset="0"/>
                <a:cs typeface="Courier New" panose="02070309020205020404" pitchFamily="49" charset="0"/>
              </a:rPr>
              <a:t>contd</a:t>
            </a:r>
            <a:r>
              <a:rPr lang="en-US" sz="1600" u="sng" dirty="0" smtClean="0">
                <a:latin typeface="Arial Black" panose="020B0A04020102020204" pitchFamily="34" charset="0"/>
                <a:cs typeface="Courier New" panose="02070309020205020404" pitchFamily="49" charset="0"/>
              </a:rPr>
              <a:t>)</a:t>
            </a:r>
            <a:endParaRPr lang="en-US" sz="1600" u="sng" dirty="0">
              <a:latin typeface="Arial Black" panose="020B0A04020102020204" pitchFamily="34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::Rating::Timestamp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6041::49::1::968116315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6041::118::1::968116315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6041::122::1::968116315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6041::129::1::968116315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6041::237::1::968116315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6041::364::3::968116315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6041::594::3::968116315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6041::595::3::968116315</a:t>
            </a:r>
          </a:p>
          <a:p>
            <a:pPr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6041::31::3::968116315</a:t>
            </a:r>
          </a:p>
        </p:txBody>
      </p:sp>
    </p:spTree>
    <p:extLst>
      <p:ext uri="{BB962C8B-B14F-4D97-AF65-F5344CB8AC3E}">
        <p14:creationId xmlns:p14="http://schemas.microsoft.com/office/powerpoint/2010/main" val="180048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STEP-2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load ratings data with new user details and map only the first 3 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fields i.e.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MovieID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Rating.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proj1_ml_ratings_rdd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/ratings1.dat")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proj1_ml_ratings_map_rdd = proj1_ml_ratings_rdd.map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=&gt;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("::").take(3) )</a:t>
            </a:r>
          </a:p>
          <a:p>
            <a:pPr>
              <a:buNone/>
            </a:pPr>
            <a:endParaRPr lang="en-US" sz="18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Import Spark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mllib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recommendation package and map the ratings data 	into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mllib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“rating” object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org.apache.spark.mllib.recommendation.ALS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org.apache.spark.mllib.recommendation.Rating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proj1_ratings_case_rdd = proj1_ml_ratings_map_rdd.map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user,movie,rating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user.toInt,movie.toInt,rating.toDouble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create a training model from the rating object as,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proj1_model =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ALS.train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(proj1_ratings_case_rdd, 50, 5, 0.01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8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STEP-5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Implement the recommendation model to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userID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6041,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proj1_topKRecs = proj1_model.recommendProducts(6041, 10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Output,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Rating(6041,3616,7.267185079565172),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Rating(6041,2625,6.9512174996082985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Rating(6041,2260,6.9211805129650825),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Rating(6041,1410,6.557200987718043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Rating(6041,2458,6.550038535737836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Rating(6041,1858,6.407971229135227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Rating(6041,2380,6.341627836792889),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Rating(6041,1866,6.284168597955429),</a:t>
            </a: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Rating(6041,3674,6.22494503473873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Rating(6041,1703,6.200815790625837))</a:t>
            </a:r>
          </a:p>
        </p:txBody>
      </p:sp>
    </p:spTree>
    <p:extLst>
      <p:ext uri="{BB962C8B-B14F-4D97-AF65-F5344CB8AC3E}">
        <p14:creationId xmlns:p14="http://schemas.microsoft.com/office/powerpoint/2010/main" val="18423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STEP-6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map the recommendation data to movie names</a:t>
            </a:r>
            <a:endParaRPr 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proj1_ml_movie_rdd =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sb_spk_proj_movie_recom_system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/movies1.dat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>
              <a:buNone/>
            </a:pPr>
            <a:endParaRPr lang="en-US" sz="1400" b="1" u="sng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//map the data into key-&gt; value pairs</a:t>
            </a: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proj1_ml_movie_titles_rdd = proj1_ml_movie_rdd.map(line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("::").take(2)).map(array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array(0).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toInt,array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(1))).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collectAsMap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8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//map this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movieID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with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movieName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recommendation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>
              <a:buNone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proj1_ml_moviesForUser_rdd =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proj1_ratings_case_rdd.keyBy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(_.user).lookup(6041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//display the top 10 recommendation results</a:t>
            </a:r>
          </a:p>
          <a:p>
            <a:pPr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proj1_ml_moviesForUser_rdd.sortBy(-_.rating).take(10).map(rating =&gt;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proj1_ml_movie_titles_rdd(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rating.product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rating.rating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25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 Black" pitchFamily="34" charset="0"/>
              </a:rPr>
              <a:t>Business Questions Answered (contd.)</a:t>
            </a:r>
            <a:endParaRPr lang="en-US" sz="2800" dirty="0">
              <a:latin typeface="Arial Black" pitchFamily="34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RESULT</a:t>
            </a:r>
            <a:r>
              <a:rPr lang="en-US" sz="16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None/>
            </a:pPr>
            <a:endParaRPr lang="en-US" sz="1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(Nixon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(Othello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(Now and Then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(Dangerous Minds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(Cry, the Beloved Country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(Father of the Bride Part II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(Mighty Aphrodite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(Friday (1995),5.0)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(Sudden Death (1995),4.0)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(Money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(1995),4.0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i.e. model has recommended drama, comedy and action movies for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‘6041’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1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ttyImages-185002046-5772f4153df78cb62ce1ad6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5781" y="1600200"/>
            <a:ext cx="7310438" cy="48736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822</TotalTime>
  <Words>1934</Words>
  <Application>Microsoft Office PowerPoint</Application>
  <PresentationFormat>On-screen Show (4:3)</PresentationFormat>
  <Paragraphs>378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Century Schoolbook</vt:lpstr>
      <vt:lpstr>Courier New</vt:lpstr>
      <vt:lpstr>Wingdings</vt:lpstr>
      <vt:lpstr>Wingdings 2</vt:lpstr>
      <vt:lpstr>Oriel</vt:lpstr>
      <vt:lpstr>Earthquake Prediction</vt:lpstr>
      <vt:lpstr>Project Done By</vt:lpstr>
      <vt:lpstr>Project Introduction</vt:lpstr>
      <vt:lpstr>Dataset Description</vt:lpstr>
      <vt:lpstr>Technical Architecture</vt:lpstr>
      <vt:lpstr>Load data In Spark Shell</vt:lpstr>
      <vt:lpstr>Load data In Spark Shell (Contd..)</vt:lpstr>
      <vt:lpstr>Load data In Spark Shell (Contd..)</vt:lpstr>
      <vt:lpstr>Business Questions Answered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:::::::::Business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Business Questions Answered (contd.)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customer churn using telco dataset</dc:title>
  <dc:creator>Shubhro</dc:creator>
  <cp:lastModifiedBy>BANERJEE, SHUBHRO</cp:lastModifiedBy>
  <cp:revision>96</cp:revision>
  <dcterms:created xsi:type="dcterms:W3CDTF">2018-01-06T07:00:44Z</dcterms:created>
  <dcterms:modified xsi:type="dcterms:W3CDTF">2018-02-28T15:37:21Z</dcterms:modified>
</cp:coreProperties>
</file>