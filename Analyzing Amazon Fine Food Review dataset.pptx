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82" r:id="rId20"/>
    <p:sldId id="28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88" autoAdjust="0"/>
  </p:normalViewPr>
  <p:slideViewPr>
    <p:cSldViewPr>
      <p:cViewPr>
        <p:scale>
          <a:sx n="50" d="100"/>
          <a:sy n="50" d="100"/>
        </p:scale>
        <p:origin x="-1267" y="1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9926B9CC-8DF7-433C-BD5A-233AE4379C00}" type="datetimeFigureOut">
              <a:rPr lang="en-US" smtClean="0"/>
              <a:pPr/>
              <a:t>1/9/2018</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C10D52DA-34D0-4139-BF99-ACAF6712546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9926B9CC-8DF7-433C-BD5A-233AE4379C00}" type="datetimeFigureOut">
              <a:rPr lang="en-US" smtClean="0"/>
              <a:pPr/>
              <a:t>1/9/2018</a:t>
            </a:fld>
            <a:endParaRPr lang="en-US"/>
          </a:p>
        </p:txBody>
      </p:sp>
      <p:sp>
        <p:nvSpPr>
          <p:cNvPr id="9" name="Slide Number Placeholder 8"/>
          <p:cNvSpPr>
            <a:spLocks noGrp="1"/>
          </p:cNvSpPr>
          <p:nvPr>
            <p:ph type="sldNum" sz="quarter" idx="15"/>
          </p:nvPr>
        </p:nvSpPr>
        <p:spPr/>
        <p:txBody>
          <a:bodyPr rtlCol="0"/>
          <a:lstStyle/>
          <a:p>
            <a:fld id="{C10D52DA-34D0-4139-BF99-ACAF6712546A}"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9926B9CC-8DF7-433C-BD5A-233AE4379C00}" type="datetimeFigureOut">
              <a:rPr lang="en-US" smtClean="0"/>
              <a:pPr/>
              <a:t>1/9/2018</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C10D52DA-34D0-4139-BF99-ACAF6712546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9926B9CC-8DF7-433C-BD5A-233AE4379C00}" type="datetimeFigureOut">
              <a:rPr lang="en-US" smtClean="0"/>
              <a:pPr/>
              <a:t>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0D52DA-34D0-4139-BF99-ACAF6712546A}"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9926B9CC-8DF7-433C-BD5A-233AE4379C00}" type="datetimeFigureOut">
              <a:rPr lang="en-US" smtClean="0"/>
              <a:pPr/>
              <a:t>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0D52DA-34D0-4139-BF99-ACAF6712546A}"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9926B9CC-8DF7-433C-BD5A-233AE4379C00}" type="datetimeFigureOut">
              <a:rPr lang="en-US" smtClean="0"/>
              <a:pPr/>
              <a:t>1/9/2018</a:t>
            </a:fld>
            <a:endParaRPr lang="en-US"/>
          </a:p>
        </p:txBody>
      </p:sp>
      <p:sp>
        <p:nvSpPr>
          <p:cNvPr id="7" name="Slide Number Placeholder 6"/>
          <p:cNvSpPr>
            <a:spLocks noGrp="1"/>
          </p:cNvSpPr>
          <p:nvPr>
            <p:ph type="sldNum" sz="quarter" idx="11"/>
          </p:nvPr>
        </p:nvSpPr>
        <p:spPr/>
        <p:txBody>
          <a:bodyPr rtlCol="0"/>
          <a:lstStyle/>
          <a:p>
            <a:fld id="{C10D52DA-34D0-4139-BF99-ACAF6712546A}"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26B9CC-8DF7-433C-BD5A-233AE4379C00}" type="datetimeFigureOut">
              <a:rPr lang="en-US" smtClean="0"/>
              <a:pPr/>
              <a:t>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0D52DA-34D0-4139-BF99-ACAF671254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9926B9CC-8DF7-433C-BD5A-233AE4379C00}" type="datetimeFigureOut">
              <a:rPr lang="en-US" smtClean="0"/>
              <a:pPr/>
              <a:t>1/9/2018</a:t>
            </a:fld>
            <a:endParaRPr lang="en-US"/>
          </a:p>
        </p:txBody>
      </p:sp>
      <p:sp>
        <p:nvSpPr>
          <p:cNvPr id="22" name="Slide Number Placeholder 21"/>
          <p:cNvSpPr>
            <a:spLocks noGrp="1"/>
          </p:cNvSpPr>
          <p:nvPr>
            <p:ph type="sldNum" sz="quarter" idx="15"/>
          </p:nvPr>
        </p:nvSpPr>
        <p:spPr/>
        <p:txBody>
          <a:bodyPr rtlCol="0"/>
          <a:lstStyle/>
          <a:p>
            <a:fld id="{C10D52DA-34D0-4139-BF99-ACAF6712546A}"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9926B9CC-8DF7-433C-BD5A-233AE4379C00}" type="datetimeFigureOut">
              <a:rPr lang="en-US" smtClean="0"/>
              <a:pPr/>
              <a:t>1/9/2018</a:t>
            </a:fld>
            <a:endParaRPr lang="en-US"/>
          </a:p>
        </p:txBody>
      </p:sp>
      <p:sp>
        <p:nvSpPr>
          <p:cNvPr id="18" name="Slide Number Placeholder 17"/>
          <p:cNvSpPr>
            <a:spLocks noGrp="1"/>
          </p:cNvSpPr>
          <p:nvPr>
            <p:ph type="sldNum" sz="quarter" idx="11"/>
          </p:nvPr>
        </p:nvSpPr>
        <p:spPr/>
        <p:txBody>
          <a:bodyPr rtlCol="0"/>
          <a:lstStyle/>
          <a:p>
            <a:fld id="{C10D52DA-34D0-4139-BF99-ACAF6712546A}"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926B9CC-8DF7-433C-BD5A-233AE4379C00}" type="datetimeFigureOut">
              <a:rPr lang="en-US" smtClean="0"/>
              <a:pPr/>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52DA-34D0-4139-BF99-ACAF671254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926B9CC-8DF7-433C-BD5A-233AE4379C00}" type="datetimeFigureOut">
              <a:rPr lang="en-US" smtClean="0"/>
              <a:pPr/>
              <a:t>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0D52DA-34D0-4139-BF99-ACAF6712546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9926B9CC-8DF7-433C-BD5A-233AE4379C00}" type="datetimeFigureOut">
              <a:rPr lang="en-US" smtClean="0"/>
              <a:pPr/>
              <a:t>1/9/2018</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10D52DA-34D0-4139-BF99-ACAF671254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Arial Black" pitchFamily="34" charset="0"/>
              </a:rPr>
              <a:t>Amazon Fine Food Reviews</a:t>
            </a:r>
            <a:endParaRPr lang="en-US" dirty="0">
              <a:latin typeface="Arial Black" pitchFamily="34" charset="0"/>
            </a:endParaRPr>
          </a:p>
        </p:txBody>
      </p:sp>
      <p:sp>
        <p:nvSpPr>
          <p:cNvPr id="3" name="Subtitle 2"/>
          <p:cNvSpPr>
            <a:spLocks noGrp="1"/>
          </p:cNvSpPr>
          <p:nvPr>
            <p:ph type="subTitle" idx="1"/>
          </p:nvPr>
        </p:nvSpPr>
        <p:spPr/>
        <p:txBody>
          <a:bodyPr/>
          <a:lstStyle/>
          <a:p>
            <a:endParaRPr lang="en-US" dirty="0" smtClean="0"/>
          </a:p>
          <a:p>
            <a:endParaRPr lang="en-US" dirty="0" smtClean="0"/>
          </a:p>
          <a:p>
            <a:r>
              <a:rPr lang="en-US" dirty="0" smtClean="0">
                <a:latin typeface="Arial" pitchFamily="34" charset="0"/>
                <a:cs typeface="Arial" pitchFamily="34" charset="0"/>
              </a:rPr>
              <a:t>Big Data Foundation Track for </a:t>
            </a:r>
            <a:r>
              <a:rPr lang="en-US" dirty="0" err="1" smtClean="0">
                <a:latin typeface="Arial" pitchFamily="34" charset="0"/>
                <a:cs typeface="Arial" pitchFamily="34" charset="0"/>
              </a:rPr>
              <a:t>UPx</a:t>
            </a:r>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Project Done By</a:t>
            </a:r>
            <a:endParaRPr lang="en-US" dirty="0">
              <a:latin typeface="Arial Black" pitchFamily="34" charset="0"/>
            </a:endParaRPr>
          </a:p>
        </p:txBody>
      </p:sp>
      <p:sp>
        <p:nvSpPr>
          <p:cNvPr id="3" name="Content Placeholder 2"/>
          <p:cNvSpPr>
            <a:spLocks noGrp="1"/>
          </p:cNvSpPr>
          <p:nvPr>
            <p:ph sz="quarter" idx="1"/>
          </p:nvPr>
        </p:nvSpPr>
        <p:spPr/>
        <p:txBody>
          <a:bodyPr>
            <a:normAutofit/>
          </a:bodyPr>
          <a:lstStyle/>
          <a:p>
            <a:pPr>
              <a:buNone/>
            </a:pPr>
            <a:r>
              <a:rPr lang="en-US" b="1" dirty="0" smtClean="0">
                <a:solidFill>
                  <a:schemeClr val="bg1">
                    <a:lumMod val="50000"/>
                  </a:schemeClr>
                </a:solidFill>
                <a:latin typeface="Arial" pitchFamily="34" charset="0"/>
                <a:cs typeface="Arial" pitchFamily="34" charset="0"/>
              </a:rPr>
              <a:t>Name : </a:t>
            </a:r>
            <a:r>
              <a:rPr lang="en-US" b="1" dirty="0" err="1" smtClean="0">
                <a:solidFill>
                  <a:schemeClr val="bg1">
                    <a:lumMod val="50000"/>
                  </a:schemeClr>
                </a:solidFill>
                <a:latin typeface="Arial" pitchFamily="34" charset="0"/>
                <a:cs typeface="Arial" pitchFamily="34" charset="0"/>
              </a:rPr>
              <a:t>Shubhro</a:t>
            </a:r>
            <a:r>
              <a:rPr lang="en-US" b="1" dirty="0" smtClean="0">
                <a:solidFill>
                  <a:schemeClr val="bg1">
                    <a:lumMod val="50000"/>
                  </a:schemeClr>
                </a:solidFill>
                <a:latin typeface="Arial" pitchFamily="34" charset="0"/>
                <a:cs typeface="Arial" pitchFamily="34" charset="0"/>
              </a:rPr>
              <a:t> </a:t>
            </a:r>
            <a:r>
              <a:rPr lang="en-US" b="1" dirty="0" err="1" smtClean="0">
                <a:solidFill>
                  <a:schemeClr val="bg1">
                    <a:lumMod val="50000"/>
                  </a:schemeClr>
                </a:solidFill>
                <a:latin typeface="Arial" pitchFamily="34" charset="0"/>
                <a:cs typeface="Arial" pitchFamily="34" charset="0"/>
              </a:rPr>
              <a:t>Banerjee</a:t>
            </a:r>
            <a:endParaRPr lang="en-US" b="1" dirty="0">
              <a:solidFill>
                <a:schemeClr val="bg1">
                  <a:lumMod val="50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Project Introduction</a:t>
            </a:r>
            <a:endParaRPr lang="en-US" dirty="0">
              <a:latin typeface="Arial Black" pitchFamily="34" charset="0"/>
            </a:endParaRPr>
          </a:p>
        </p:txBody>
      </p:sp>
      <p:sp>
        <p:nvSpPr>
          <p:cNvPr id="3" name="Content Placeholder 2"/>
          <p:cNvSpPr>
            <a:spLocks noGrp="1"/>
          </p:cNvSpPr>
          <p:nvPr>
            <p:ph sz="quarter" idx="1"/>
          </p:nvPr>
        </p:nvSpPr>
        <p:spPr/>
        <p:txBody>
          <a:bodyPr>
            <a:normAutofit fontScale="92500" lnSpcReduction="10000"/>
          </a:bodyPr>
          <a:lstStyle/>
          <a:p>
            <a:pPr>
              <a:buNone/>
            </a:pPr>
            <a:r>
              <a:rPr lang="en-US" dirty="0" smtClean="0">
                <a:solidFill>
                  <a:schemeClr val="tx1">
                    <a:lumMod val="65000"/>
                    <a:lumOff val="35000"/>
                  </a:schemeClr>
                </a:solidFill>
                <a:latin typeface="Arial Black" pitchFamily="34" charset="0"/>
              </a:rPr>
              <a:t>Domain : </a:t>
            </a:r>
            <a:r>
              <a:rPr lang="en-US" b="1" dirty="0" smtClean="0">
                <a:solidFill>
                  <a:schemeClr val="tx1">
                    <a:lumMod val="65000"/>
                    <a:lumOff val="35000"/>
                  </a:schemeClr>
                </a:solidFill>
                <a:latin typeface="Arial Black" pitchFamily="34" charset="0"/>
              </a:rPr>
              <a:t>Food and Beverages</a:t>
            </a:r>
            <a:endParaRPr lang="en-US" b="1" dirty="0" smtClean="0">
              <a:solidFill>
                <a:schemeClr val="tx1">
                  <a:lumMod val="65000"/>
                  <a:lumOff val="35000"/>
                </a:schemeClr>
              </a:solidFill>
              <a:latin typeface="Arial Black" pitchFamily="34" charset="0"/>
            </a:endParaRPr>
          </a:p>
          <a:p>
            <a:pPr>
              <a:buNone/>
            </a:pPr>
            <a:endParaRPr lang="en-US" b="1" dirty="0" smtClean="0">
              <a:solidFill>
                <a:schemeClr val="tx1">
                  <a:lumMod val="65000"/>
                  <a:lumOff val="35000"/>
                </a:schemeClr>
              </a:solidFill>
            </a:endParaRPr>
          </a:p>
          <a:p>
            <a:pPr>
              <a:buNone/>
            </a:pPr>
            <a:r>
              <a:rPr lang="en-US" sz="2200" b="1" dirty="0" smtClean="0">
                <a:solidFill>
                  <a:schemeClr val="tx1">
                    <a:lumMod val="65000"/>
                    <a:lumOff val="35000"/>
                  </a:schemeClr>
                </a:solidFill>
                <a:latin typeface="Arial Black" pitchFamily="34" charset="0"/>
              </a:rPr>
              <a:t>Technology Used: </a:t>
            </a:r>
            <a:r>
              <a:rPr lang="en-US" sz="2200" b="1" dirty="0" err="1" smtClean="0">
                <a:solidFill>
                  <a:schemeClr val="tx1">
                    <a:lumMod val="65000"/>
                    <a:lumOff val="35000"/>
                  </a:schemeClr>
                </a:solidFill>
                <a:latin typeface="Arial Black" pitchFamily="34" charset="0"/>
              </a:rPr>
              <a:t>HiveQL</a:t>
            </a:r>
            <a:r>
              <a:rPr lang="en-US" sz="2200" b="1" dirty="0" smtClean="0">
                <a:solidFill>
                  <a:schemeClr val="tx1">
                    <a:lumMod val="65000"/>
                    <a:lumOff val="35000"/>
                  </a:schemeClr>
                </a:solidFill>
                <a:latin typeface="Arial Black" pitchFamily="34" charset="0"/>
              </a:rPr>
              <a:t> on </a:t>
            </a:r>
            <a:r>
              <a:rPr lang="en-US" sz="2200" b="1" dirty="0" err="1" smtClean="0">
                <a:solidFill>
                  <a:schemeClr val="tx1">
                    <a:lumMod val="65000"/>
                    <a:lumOff val="35000"/>
                  </a:schemeClr>
                </a:solidFill>
                <a:latin typeface="Arial Black" pitchFamily="34" charset="0"/>
              </a:rPr>
              <a:t>Hadoop</a:t>
            </a:r>
            <a:r>
              <a:rPr lang="en-US" sz="2200" b="1" dirty="0" smtClean="0">
                <a:solidFill>
                  <a:schemeClr val="tx1">
                    <a:lumMod val="65000"/>
                    <a:lumOff val="35000"/>
                  </a:schemeClr>
                </a:solidFill>
                <a:latin typeface="Arial Black" pitchFamily="34" charset="0"/>
              </a:rPr>
              <a:t> Cluster</a:t>
            </a:r>
          </a:p>
          <a:p>
            <a:pPr>
              <a:buNone/>
            </a:pPr>
            <a:endParaRPr lang="en-US" b="1" dirty="0" smtClean="0">
              <a:solidFill>
                <a:schemeClr val="tx1">
                  <a:lumMod val="65000"/>
                  <a:lumOff val="35000"/>
                </a:schemeClr>
              </a:solidFill>
            </a:endParaRPr>
          </a:p>
          <a:p>
            <a:pPr>
              <a:buNone/>
            </a:pPr>
            <a:r>
              <a:rPr lang="en-US" dirty="0" smtClean="0">
                <a:solidFill>
                  <a:schemeClr val="tx1">
                    <a:lumMod val="65000"/>
                    <a:lumOff val="35000"/>
                  </a:schemeClr>
                </a:solidFill>
                <a:latin typeface="Arial Black" pitchFamily="34" charset="0"/>
              </a:rPr>
              <a:t>Dataset: </a:t>
            </a:r>
            <a:r>
              <a:rPr lang="en-US" dirty="0" smtClean="0">
                <a:solidFill>
                  <a:schemeClr val="tx1">
                    <a:lumMod val="65000"/>
                    <a:lumOff val="35000"/>
                  </a:schemeClr>
                </a:solidFill>
                <a:latin typeface="Arial" pitchFamily="34" charset="0"/>
                <a:cs typeface="Arial" pitchFamily="34" charset="0"/>
              </a:rPr>
              <a:t>Reviews.csv</a:t>
            </a:r>
          </a:p>
          <a:p>
            <a:pPr>
              <a:buNone/>
            </a:pPr>
            <a:endParaRPr lang="en-US" dirty="0" smtClean="0">
              <a:solidFill>
                <a:schemeClr val="tx1">
                  <a:lumMod val="65000"/>
                  <a:lumOff val="35000"/>
                </a:schemeClr>
              </a:solidFill>
            </a:endParaRPr>
          </a:p>
          <a:p>
            <a:r>
              <a:rPr lang="en-US" dirty="0" smtClean="0">
                <a:solidFill>
                  <a:schemeClr val="tx1">
                    <a:lumMod val="65000"/>
                    <a:lumOff val="35000"/>
                  </a:schemeClr>
                </a:solidFill>
                <a:latin typeface="Arial" pitchFamily="34" charset="0"/>
                <a:cs typeface="Arial" pitchFamily="34" charset="0"/>
              </a:rPr>
              <a:t>The Amazon Fine Food Reviews dataset consists of 568,454 food reviews Amazon users left up to October 2012. This data was originally published on SNAP and the team has sourced the dataset from kaggle.com. The dataset contains user reviews covering a host of categories which include beverages, confectionaries, gourmet food, pet food etc.</a:t>
            </a:r>
            <a:endParaRPr lang="en-US" dirty="0">
              <a:solidFill>
                <a:schemeClr val="tx1">
                  <a:lumMod val="65000"/>
                  <a:lumOff val="3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Dataset Description</a:t>
            </a:r>
            <a:endParaRPr lang="en-US" dirty="0">
              <a:latin typeface="Arial Black"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b="1" dirty="0" smtClean="0">
                <a:solidFill>
                  <a:schemeClr val="tx1">
                    <a:lumMod val="65000"/>
                    <a:lumOff val="35000"/>
                  </a:schemeClr>
                </a:solidFill>
                <a:latin typeface="Arial" pitchFamily="34" charset="0"/>
                <a:cs typeface="Arial" pitchFamily="34" charset="0"/>
              </a:rPr>
              <a:t>Id</a:t>
            </a:r>
          </a:p>
          <a:p>
            <a:pPr>
              <a:buFont typeface="Wingdings" pitchFamily="2" charset="2"/>
              <a:buChar char="v"/>
            </a:pPr>
            <a:r>
              <a:rPr lang="en-US" sz="2000" b="1" dirty="0" err="1" smtClean="0">
                <a:solidFill>
                  <a:schemeClr val="tx1">
                    <a:lumMod val="65000"/>
                    <a:lumOff val="35000"/>
                  </a:schemeClr>
                </a:solidFill>
                <a:latin typeface="Arial" pitchFamily="34" charset="0"/>
                <a:cs typeface="Arial" pitchFamily="34" charset="0"/>
              </a:rPr>
              <a:t>ProductId</a:t>
            </a:r>
            <a:endParaRPr lang="en-US" sz="2000" b="1"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2000" b="1" dirty="0" err="1" smtClean="0">
                <a:solidFill>
                  <a:schemeClr val="tx1">
                    <a:lumMod val="65000"/>
                    <a:lumOff val="35000"/>
                  </a:schemeClr>
                </a:solidFill>
                <a:latin typeface="Arial" pitchFamily="34" charset="0"/>
                <a:cs typeface="Arial" pitchFamily="34" charset="0"/>
              </a:rPr>
              <a:t>UserId</a:t>
            </a:r>
            <a:endParaRPr lang="en-US" sz="2000" b="1"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2000" b="1" dirty="0" err="1" smtClean="0">
                <a:solidFill>
                  <a:schemeClr val="tx1">
                    <a:lumMod val="65000"/>
                    <a:lumOff val="35000"/>
                  </a:schemeClr>
                </a:solidFill>
                <a:latin typeface="Arial" pitchFamily="34" charset="0"/>
                <a:cs typeface="Arial" pitchFamily="34" charset="0"/>
              </a:rPr>
              <a:t>ProfileName</a:t>
            </a:r>
            <a:endParaRPr lang="en-US" sz="2000" b="1"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2000" b="1" dirty="0" err="1" smtClean="0">
                <a:solidFill>
                  <a:schemeClr val="tx1">
                    <a:lumMod val="65000"/>
                    <a:lumOff val="35000"/>
                  </a:schemeClr>
                </a:solidFill>
                <a:latin typeface="Arial" pitchFamily="34" charset="0"/>
                <a:cs typeface="Arial" pitchFamily="34" charset="0"/>
              </a:rPr>
              <a:t>HelpfulnessNumerator</a:t>
            </a:r>
            <a:endParaRPr lang="en-US" sz="2000" b="1"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2000" b="1" dirty="0" err="1" smtClean="0">
                <a:solidFill>
                  <a:schemeClr val="tx1">
                    <a:lumMod val="65000"/>
                    <a:lumOff val="35000"/>
                  </a:schemeClr>
                </a:solidFill>
                <a:latin typeface="Arial" pitchFamily="34" charset="0"/>
                <a:cs typeface="Arial" pitchFamily="34" charset="0"/>
              </a:rPr>
              <a:t>HelpfulnessDenominator</a:t>
            </a:r>
            <a:endParaRPr lang="en-US" sz="2000" b="1"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2000" b="1" dirty="0" err="1" smtClean="0">
                <a:solidFill>
                  <a:schemeClr val="tx1">
                    <a:lumMod val="65000"/>
                    <a:lumOff val="35000"/>
                  </a:schemeClr>
                </a:solidFill>
                <a:latin typeface="Arial" pitchFamily="34" charset="0"/>
                <a:cs typeface="Arial" pitchFamily="34" charset="0"/>
              </a:rPr>
              <a:t>Score,Time</a:t>
            </a:r>
            <a:endParaRPr lang="en-US" sz="2000" b="1"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2000" b="1" dirty="0" smtClean="0">
                <a:solidFill>
                  <a:schemeClr val="tx1">
                    <a:lumMod val="65000"/>
                    <a:lumOff val="35000"/>
                  </a:schemeClr>
                </a:solidFill>
                <a:latin typeface="Arial" pitchFamily="34" charset="0"/>
                <a:cs typeface="Arial" pitchFamily="34" charset="0"/>
              </a:rPr>
              <a:t>Summary </a:t>
            </a:r>
          </a:p>
          <a:p>
            <a:pPr>
              <a:buFont typeface="Wingdings" pitchFamily="2" charset="2"/>
              <a:buChar char="v"/>
            </a:pPr>
            <a:r>
              <a:rPr lang="en-US" sz="2000" b="1" dirty="0" smtClean="0">
                <a:solidFill>
                  <a:schemeClr val="tx1">
                    <a:lumMod val="65000"/>
                    <a:lumOff val="35000"/>
                  </a:schemeClr>
                </a:solidFill>
                <a:latin typeface="Arial" pitchFamily="34" charset="0"/>
                <a:cs typeface="Arial" pitchFamily="34" charset="0"/>
              </a:rPr>
              <a:t>Text</a:t>
            </a:r>
            <a:endParaRPr lang="en-US" sz="2000" b="1" dirty="0">
              <a:solidFill>
                <a:schemeClr val="tx1">
                  <a:lumMod val="65000"/>
                  <a:lumOff val="3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Technical Architecture</a:t>
            </a:r>
            <a:endParaRPr lang="en-US" dirty="0">
              <a:latin typeface="Arial Black"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b="1" dirty="0" smtClean="0">
                <a:solidFill>
                  <a:schemeClr val="tx1">
                    <a:lumMod val="65000"/>
                    <a:lumOff val="35000"/>
                  </a:schemeClr>
                </a:solidFill>
                <a:latin typeface="Arial" pitchFamily="34" charset="0"/>
                <a:cs typeface="Arial" pitchFamily="34" charset="0"/>
              </a:rPr>
              <a:t>I am trying to use HIVEQL to handle the “data exploration ideas” mentioned in the case-study.</a:t>
            </a:r>
          </a:p>
          <a:p>
            <a:pPr>
              <a:buNone/>
            </a:pPr>
            <a:endParaRPr lang="en-US" sz="2000" b="1"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2000" b="1" dirty="0" smtClean="0">
                <a:solidFill>
                  <a:schemeClr val="tx1">
                    <a:lumMod val="65000"/>
                    <a:lumOff val="35000"/>
                  </a:schemeClr>
                </a:solidFill>
                <a:latin typeface="Arial" pitchFamily="34" charset="0"/>
                <a:cs typeface="Arial" pitchFamily="34" charset="0"/>
              </a:rPr>
              <a:t>I will be using CSV </a:t>
            </a:r>
            <a:r>
              <a:rPr lang="en-US" sz="2000" b="1" dirty="0" err="1" smtClean="0">
                <a:solidFill>
                  <a:schemeClr val="tx1">
                    <a:lumMod val="65000"/>
                    <a:lumOff val="35000"/>
                  </a:schemeClr>
                </a:solidFill>
                <a:latin typeface="Arial" pitchFamily="34" charset="0"/>
                <a:cs typeface="Arial" pitchFamily="34" charset="0"/>
              </a:rPr>
              <a:t>SerDe</a:t>
            </a:r>
            <a:r>
              <a:rPr lang="en-US" sz="2000" b="1" dirty="0" smtClean="0">
                <a:solidFill>
                  <a:schemeClr val="tx1">
                    <a:lumMod val="65000"/>
                    <a:lumOff val="35000"/>
                  </a:schemeClr>
                </a:solidFill>
                <a:latin typeface="Arial" pitchFamily="34" charset="0"/>
                <a:cs typeface="Arial" pitchFamily="34" charset="0"/>
              </a:rPr>
              <a:t> to store the data and run </a:t>
            </a:r>
            <a:r>
              <a:rPr lang="en-US" sz="2000" b="1" dirty="0" err="1" smtClean="0">
                <a:solidFill>
                  <a:schemeClr val="tx1">
                    <a:lumMod val="65000"/>
                    <a:lumOff val="35000"/>
                  </a:schemeClr>
                </a:solidFill>
                <a:latin typeface="Arial" pitchFamily="34" charset="0"/>
                <a:cs typeface="Arial" pitchFamily="34" charset="0"/>
              </a:rPr>
              <a:t>HiveQL</a:t>
            </a:r>
            <a:r>
              <a:rPr lang="en-US" sz="2000" b="1" dirty="0" smtClean="0">
                <a:solidFill>
                  <a:schemeClr val="tx1">
                    <a:lumMod val="65000"/>
                    <a:lumOff val="35000"/>
                  </a:schemeClr>
                </a:solidFill>
                <a:latin typeface="Arial" pitchFamily="34" charset="0"/>
                <a:cs typeface="Arial" pitchFamily="34" charset="0"/>
              </a:rPr>
              <a:t> on the data.</a:t>
            </a:r>
          </a:p>
          <a:p>
            <a:pPr>
              <a:buFont typeface="Wingdings" pitchFamily="2" charset="2"/>
              <a:buChar char="v"/>
            </a:pPr>
            <a:endParaRPr lang="en-US" sz="2000" b="1"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2000" b="1" dirty="0" smtClean="0">
                <a:solidFill>
                  <a:schemeClr val="tx1">
                    <a:lumMod val="65000"/>
                    <a:lumOff val="35000"/>
                  </a:schemeClr>
                </a:solidFill>
                <a:latin typeface="Arial" pitchFamily="34" charset="0"/>
                <a:cs typeface="Arial" pitchFamily="34" charset="0"/>
              </a:rPr>
              <a:t>The </a:t>
            </a:r>
            <a:r>
              <a:rPr lang="en-US" sz="2000" b="1" dirty="0" smtClean="0">
                <a:solidFill>
                  <a:schemeClr val="tx1">
                    <a:lumMod val="65000"/>
                    <a:lumOff val="35000"/>
                  </a:schemeClr>
                </a:solidFill>
                <a:latin typeface="Arial" pitchFamily="34" charset="0"/>
                <a:cs typeface="Arial" pitchFamily="34" charset="0"/>
              </a:rPr>
              <a:t>time</a:t>
            </a:r>
            <a:r>
              <a:rPr lang="en-US" sz="2000" b="1" dirty="0" smtClean="0">
                <a:solidFill>
                  <a:schemeClr val="tx1">
                    <a:lumMod val="65000"/>
                    <a:lumOff val="35000"/>
                  </a:schemeClr>
                </a:solidFill>
                <a:latin typeface="Arial" pitchFamily="34" charset="0"/>
                <a:cs typeface="Arial" pitchFamily="34" charset="0"/>
              </a:rPr>
              <a:t>stamp </a:t>
            </a:r>
            <a:r>
              <a:rPr lang="en-US" sz="2000" b="1" dirty="0" smtClean="0">
                <a:solidFill>
                  <a:schemeClr val="tx1">
                    <a:lumMod val="65000"/>
                    <a:lumOff val="35000"/>
                  </a:schemeClr>
                </a:solidFill>
                <a:latin typeface="Arial" pitchFamily="34" charset="0"/>
                <a:cs typeface="Arial" pitchFamily="34" charset="0"/>
              </a:rPr>
              <a:t>mentioned in the dataset is in Unix timestamp format, so I have also tried to handle and display in YYYY-MM-DD format</a:t>
            </a:r>
          </a:p>
          <a:p>
            <a:pPr>
              <a:buFont typeface="Wingdings" pitchFamily="2" charset="2"/>
              <a:buChar char="v"/>
            </a:pPr>
            <a:endParaRPr lang="en-US" dirty="0" smtClean="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DATA handling</a:t>
            </a:r>
            <a:endParaRPr lang="en-US" sz="2800" dirty="0">
              <a:latin typeface="Arial Black"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dirty="0" smtClean="0">
                <a:solidFill>
                  <a:schemeClr val="tx1">
                    <a:lumMod val="65000"/>
                    <a:lumOff val="35000"/>
                  </a:schemeClr>
                </a:solidFill>
                <a:latin typeface="Arial" pitchFamily="34" charset="0"/>
                <a:cs typeface="Arial" pitchFamily="34" charset="0"/>
              </a:rPr>
              <a:t>Store the dataset in Hive Database, Create Hive tables to load the data and use it for the exploration ideas. </a:t>
            </a:r>
          </a:p>
          <a:p>
            <a:pPr>
              <a:buNone/>
            </a:pPr>
            <a:endParaRPr lang="en-US" sz="2000" dirty="0" smtClean="0">
              <a:solidFill>
                <a:schemeClr val="tx1">
                  <a:lumMod val="65000"/>
                  <a:lumOff val="35000"/>
                </a:schemeClr>
              </a:solidFill>
              <a:latin typeface="Arial" pitchFamily="34" charset="0"/>
              <a:cs typeface="Arial" pitchFamily="34" charset="0"/>
            </a:endParaRPr>
          </a:p>
          <a:p>
            <a:pPr>
              <a:buNone/>
            </a:pPr>
            <a:r>
              <a:rPr lang="en-US" sz="1600" b="1" u="sng" dirty="0" smtClean="0">
                <a:solidFill>
                  <a:schemeClr val="tx1">
                    <a:lumMod val="65000"/>
                    <a:lumOff val="35000"/>
                  </a:schemeClr>
                </a:solidFill>
                <a:latin typeface="Arial" pitchFamily="34" charset="0"/>
                <a:cs typeface="Arial" pitchFamily="34" charset="0"/>
              </a:rPr>
              <a:t>STEP-1</a:t>
            </a:r>
            <a:r>
              <a:rPr lang="en-US" sz="1600" b="1" dirty="0" smtClean="0">
                <a:solidFill>
                  <a:schemeClr val="tx1">
                    <a:lumMod val="65000"/>
                    <a:lumOff val="35000"/>
                  </a:schemeClr>
                </a:solidFill>
                <a:latin typeface="Arial" pitchFamily="34" charset="0"/>
                <a:cs typeface="Arial" pitchFamily="34" charset="0"/>
              </a:rPr>
              <a:t>:    </a:t>
            </a:r>
            <a:r>
              <a:rPr lang="en-US" sz="1800" dirty="0" smtClean="0">
                <a:solidFill>
                  <a:schemeClr val="tx1">
                    <a:lumMod val="65000"/>
                    <a:lumOff val="35000"/>
                  </a:schemeClr>
                </a:solidFill>
                <a:latin typeface="Arial" pitchFamily="34" charset="0"/>
                <a:cs typeface="Arial" pitchFamily="34" charset="0"/>
              </a:rPr>
              <a:t>Create a database</a:t>
            </a:r>
          </a:p>
          <a:p>
            <a:pPr>
              <a:buNone/>
            </a:pPr>
            <a:r>
              <a:rPr lang="en-US" sz="1400" dirty="0" smtClean="0">
                <a:solidFill>
                  <a:schemeClr val="tx1">
                    <a:lumMod val="65000"/>
                    <a:lumOff val="35000"/>
                  </a:schemeClr>
                </a:solidFill>
                <a:latin typeface="Arial" pitchFamily="34" charset="0"/>
                <a:cs typeface="Arial" pitchFamily="34" charset="0"/>
              </a:rPr>
              <a:t>		  </a:t>
            </a:r>
            <a:r>
              <a:rPr lang="en-US" sz="1400" dirty="0" smtClean="0">
                <a:solidFill>
                  <a:schemeClr val="tx1">
                    <a:lumMod val="65000"/>
                    <a:lumOff val="35000"/>
                  </a:schemeClr>
                </a:solidFill>
                <a:latin typeface="Courier New" pitchFamily="49" charset="0"/>
                <a:cs typeface="Courier New" pitchFamily="49" charset="0"/>
              </a:rPr>
              <a:t>CREATE DATABASE </a:t>
            </a:r>
            <a:r>
              <a:rPr lang="en-US" sz="1400" dirty="0" err="1" smtClean="0">
                <a:solidFill>
                  <a:schemeClr val="tx1">
                    <a:lumMod val="65000"/>
                    <a:lumOff val="35000"/>
                  </a:schemeClr>
                </a:solidFill>
                <a:latin typeface="Courier New" pitchFamily="49" charset="0"/>
                <a:cs typeface="Courier New" pitchFamily="49" charset="0"/>
              </a:rPr>
              <a:t>sb_amazon_food_review_db</a:t>
            </a:r>
            <a:r>
              <a:rPr lang="en-US" sz="1400" dirty="0" smtClean="0">
                <a:solidFill>
                  <a:schemeClr val="tx1">
                    <a:lumMod val="65000"/>
                    <a:lumOff val="35000"/>
                  </a:schemeClr>
                </a:solidFill>
                <a:latin typeface="Courier New" pitchFamily="49" charset="0"/>
                <a:cs typeface="Courier New" pitchFamily="49" charset="0"/>
              </a:rPr>
              <a:t>;</a:t>
            </a:r>
          </a:p>
          <a:p>
            <a:pPr>
              <a:buNone/>
            </a:pPr>
            <a:r>
              <a:rPr lang="en-US" sz="1400" dirty="0" smtClean="0">
                <a:solidFill>
                  <a:schemeClr val="tx1">
                    <a:lumMod val="65000"/>
                    <a:lumOff val="35000"/>
                  </a:schemeClr>
                </a:solidFill>
                <a:latin typeface="Courier New" pitchFamily="49" charset="0"/>
                <a:cs typeface="Courier New" pitchFamily="49" charset="0"/>
              </a:rPr>
              <a:t>		 USE </a:t>
            </a:r>
            <a:r>
              <a:rPr lang="en-US" sz="1400" dirty="0" err="1" smtClean="0">
                <a:solidFill>
                  <a:schemeClr val="tx1">
                    <a:lumMod val="65000"/>
                    <a:lumOff val="35000"/>
                  </a:schemeClr>
                </a:solidFill>
                <a:latin typeface="Courier New" pitchFamily="49" charset="0"/>
                <a:cs typeface="Courier New" pitchFamily="49" charset="0"/>
              </a:rPr>
              <a:t>sb_amazon_food_review_db</a:t>
            </a:r>
            <a:r>
              <a:rPr lang="en-US" sz="1400" dirty="0" smtClean="0">
                <a:solidFill>
                  <a:schemeClr val="tx1">
                    <a:lumMod val="65000"/>
                    <a:lumOff val="35000"/>
                  </a:schemeClr>
                </a:solidFill>
                <a:latin typeface="Courier New" pitchFamily="49" charset="0"/>
                <a:cs typeface="Courier New" pitchFamily="49" charset="0"/>
              </a:rPr>
              <a:t>;</a:t>
            </a:r>
          </a:p>
          <a:p>
            <a:pPr lvl="5">
              <a:buNone/>
            </a:pPr>
            <a:endParaRPr lang="en-US" dirty="0" smtClean="0">
              <a:solidFill>
                <a:schemeClr val="tx1">
                  <a:lumMod val="65000"/>
                  <a:lumOff val="35000"/>
                </a:schemeClr>
              </a:solidFill>
              <a:latin typeface="Arial" pitchFamily="34" charset="0"/>
              <a:cs typeface="Arial" pitchFamily="34" charset="0"/>
            </a:endParaRPr>
          </a:p>
          <a:p>
            <a:pPr>
              <a:buNone/>
            </a:pPr>
            <a:r>
              <a:rPr lang="en-US" sz="1600" b="1" u="sng" dirty="0" smtClean="0">
                <a:solidFill>
                  <a:schemeClr val="tx1">
                    <a:lumMod val="65000"/>
                    <a:lumOff val="35000"/>
                  </a:schemeClr>
                </a:solidFill>
                <a:latin typeface="Arial" pitchFamily="34" charset="0"/>
                <a:cs typeface="Arial" pitchFamily="34" charset="0"/>
              </a:rPr>
              <a:t>STEP-2</a:t>
            </a:r>
            <a:r>
              <a:rPr lang="en-US" sz="1600" b="1" dirty="0" smtClean="0">
                <a:solidFill>
                  <a:schemeClr val="tx1">
                    <a:lumMod val="65000"/>
                    <a:lumOff val="35000"/>
                  </a:schemeClr>
                </a:solidFill>
                <a:latin typeface="Arial" pitchFamily="34" charset="0"/>
                <a:cs typeface="Arial" pitchFamily="34" charset="0"/>
              </a:rPr>
              <a:t>:  </a:t>
            </a:r>
            <a:r>
              <a:rPr lang="en-US" sz="1800" dirty="0" smtClean="0">
                <a:solidFill>
                  <a:schemeClr val="tx1">
                    <a:lumMod val="65000"/>
                    <a:lumOff val="35000"/>
                  </a:schemeClr>
                </a:solidFill>
                <a:latin typeface="Arial" pitchFamily="34" charset="0"/>
                <a:cs typeface="Arial" pitchFamily="34" charset="0"/>
              </a:rPr>
              <a:t>Create an external table and load data into this table.</a:t>
            </a:r>
          </a:p>
          <a:p>
            <a:pPr lvl="1">
              <a:buNone/>
            </a:pPr>
            <a:r>
              <a:rPr lang="en-US" sz="1400" dirty="0" smtClean="0">
                <a:solidFill>
                  <a:schemeClr val="tx1">
                    <a:lumMod val="65000"/>
                    <a:lumOff val="35000"/>
                  </a:schemeClr>
                </a:solidFill>
                <a:latin typeface="Courier New" pitchFamily="49" charset="0"/>
                <a:cs typeface="Courier New" pitchFamily="49" charset="0"/>
              </a:rPr>
              <a:t>     CREATE EXTERNAL TABLE IF NOT EXISTS </a:t>
            </a:r>
            <a:r>
              <a:rPr lang="en-US" sz="1400" dirty="0" err="1" smtClean="0">
                <a:solidFill>
                  <a:schemeClr val="tx1">
                    <a:lumMod val="65000"/>
                    <a:lumOff val="35000"/>
                  </a:schemeClr>
                </a:solidFill>
                <a:latin typeface="Courier New" pitchFamily="49" charset="0"/>
                <a:cs typeface="Courier New" pitchFamily="49" charset="0"/>
              </a:rPr>
              <a:t>amazon_food_review_table</a:t>
            </a:r>
            <a:endParaRPr lang="en-US" sz="1400" dirty="0" smtClean="0">
              <a:solidFill>
                <a:schemeClr val="tx1">
                  <a:lumMod val="65000"/>
                  <a:lumOff val="35000"/>
                </a:schemeClr>
              </a:solidFill>
              <a:latin typeface="Courier New" pitchFamily="49" charset="0"/>
              <a:cs typeface="Courier New" pitchFamily="49" charset="0"/>
            </a:endParaRPr>
          </a:p>
          <a:p>
            <a:pPr lvl="1">
              <a:buNone/>
            </a:pPr>
            <a:r>
              <a:rPr lang="en-US" sz="1400" dirty="0" smtClean="0">
                <a:solidFill>
                  <a:schemeClr val="tx1">
                    <a:lumMod val="65000"/>
                    <a:lumOff val="35000"/>
                  </a:schemeClr>
                </a:solidFill>
                <a:latin typeface="Courier New" pitchFamily="49" charset="0"/>
                <a:cs typeface="Courier New" pitchFamily="49" charset="0"/>
              </a:rPr>
              <a:t>     (Id INT, </a:t>
            </a:r>
            <a:r>
              <a:rPr lang="en-US" sz="1400" dirty="0" err="1" smtClean="0">
                <a:solidFill>
                  <a:schemeClr val="tx1">
                    <a:lumMod val="65000"/>
                    <a:lumOff val="35000"/>
                  </a:schemeClr>
                </a:solidFill>
                <a:latin typeface="Courier New" pitchFamily="49" charset="0"/>
                <a:cs typeface="Courier New" pitchFamily="49" charset="0"/>
              </a:rPr>
              <a:t>ProductId</a:t>
            </a:r>
            <a:r>
              <a:rPr lang="en-US" sz="1400" dirty="0" smtClean="0">
                <a:solidFill>
                  <a:schemeClr val="tx1">
                    <a:lumMod val="65000"/>
                    <a:lumOff val="35000"/>
                  </a:schemeClr>
                </a:solidFill>
                <a:latin typeface="Courier New" pitchFamily="49" charset="0"/>
                <a:cs typeface="Courier New" pitchFamily="49" charset="0"/>
              </a:rPr>
              <a:t> STRING, </a:t>
            </a:r>
            <a:r>
              <a:rPr lang="en-US" sz="1400" dirty="0" err="1" smtClean="0">
                <a:solidFill>
                  <a:schemeClr val="tx1">
                    <a:lumMod val="65000"/>
                    <a:lumOff val="35000"/>
                  </a:schemeClr>
                </a:solidFill>
                <a:latin typeface="Courier New" pitchFamily="49" charset="0"/>
                <a:cs typeface="Courier New" pitchFamily="49" charset="0"/>
              </a:rPr>
              <a:t>UserId</a:t>
            </a:r>
            <a:r>
              <a:rPr lang="en-US" sz="1400" dirty="0" smtClean="0">
                <a:solidFill>
                  <a:schemeClr val="tx1">
                    <a:lumMod val="65000"/>
                    <a:lumOff val="35000"/>
                  </a:schemeClr>
                </a:solidFill>
                <a:latin typeface="Courier New" pitchFamily="49" charset="0"/>
                <a:cs typeface="Courier New" pitchFamily="49" charset="0"/>
              </a:rPr>
              <a:t> STRING, </a:t>
            </a:r>
            <a:r>
              <a:rPr lang="en-US" sz="1400" dirty="0" err="1" smtClean="0">
                <a:solidFill>
                  <a:schemeClr val="tx1">
                    <a:lumMod val="65000"/>
                    <a:lumOff val="35000"/>
                  </a:schemeClr>
                </a:solidFill>
                <a:latin typeface="Courier New" pitchFamily="49" charset="0"/>
                <a:cs typeface="Courier New" pitchFamily="49" charset="0"/>
              </a:rPr>
              <a:t>ProfileName</a:t>
            </a:r>
            <a:r>
              <a:rPr lang="en-US" sz="1400" dirty="0" smtClean="0">
                <a:solidFill>
                  <a:schemeClr val="tx1">
                    <a:lumMod val="65000"/>
                    <a:lumOff val="35000"/>
                  </a:schemeClr>
                </a:solidFill>
                <a:latin typeface="Courier New" pitchFamily="49" charset="0"/>
                <a:cs typeface="Courier New" pitchFamily="49" charset="0"/>
              </a:rPr>
              <a:t>       </a:t>
            </a:r>
          </a:p>
          <a:p>
            <a:pPr lvl="1">
              <a:buNone/>
            </a:pPr>
            <a:r>
              <a:rPr lang="en-US" sz="1400" dirty="0" smtClean="0">
                <a:solidFill>
                  <a:schemeClr val="tx1">
                    <a:lumMod val="65000"/>
                    <a:lumOff val="35000"/>
                  </a:schemeClr>
                </a:solidFill>
                <a:latin typeface="Courier New" pitchFamily="49" charset="0"/>
                <a:cs typeface="Courier New" pitchFamily="49" charset="0"/>
              </a:rPr>
              <a:t>      STRING, </a:t>
            </a:r>
            <a:r>
              <a:rPr lang="en-US" sz="1400" dirty="0" err="1" smtClean="0">
                <a:solidFill>
                  <a:schemeClr val="tx1">
                    <a:lumMod val="65000"/>
                    <a:lumOff val="35000"/>
                  </a:schemeClr>
                </a:solidFill>
                <a:latin typeface="Courier New" pitchFamily="49" charset="0"/>
                <a:cs typeface="Courier New" pitchFamily="49" charset="0"/>
              </a:rPr>
              <a:t>HelpfulnessNumerator</a:t>
            </a:r>
            <a:r>
              <a:rPr lang="en-US" sz="1400" dirty="0" smtClean="0">
                <a:solidFill>
                  <a:schemeClr val="tx1">
                    <a:lumMod val="65000"/>
                    <a:lumOff val="35000"/>
                  </a:schemeClr>
                </a:solidFill>
                <a:latin typeface="Courier New" pitchFamily="49" charset="0"/>
                <a:cs typeface="Courier New" pitchFamily="49" charset="0"/>
              </a:rPr>
              <a:t> INT, </a:t>
            </a:r>
            <a:r>
              <a:rPr lang="en-US" sz="1400" dirty="0" err="1" smtClean="0">
                <a:solidFill>
                  <a:schemeClr val="tx1">
                    <a:lumMod val="65000"/>
                    <a:lumOff val="35000"/>
                  </a:schemeClr>
                </a:solidFill>
                <a:latin typeface="Courier New" pitchFamily="49" charset="0"/>
                <a:cs typeface="Courier New" pitchFamily="49" charset="0"/>
              </a:rPr>
              <a:t>HelpfulnessDenominator</a:t>
            </a:r>
            <a:r>
              <a:rPr lang="en-US" sz="1400" dirty="0" smtClean="0">
                <a:solidFill>
                  <a:schemeClr val="tx1">
                    <a:lumMod val="65000"/>
                    <a:lumOff val="35000"/>
                  </a:schemeClr>
                </a:solidFill>
                <a:latin typeface="Courier New" pitchFamily="49" charset="0"/>
                <a:cs typeface="Courier New" pitchFamily="49" charset="0"/>
              </a:rPr>
              <a:t>  </a:t>
            </a:r>
          </a:p>
          <a:p>
            <a:pPr lvl="1">
              <a:buNone/>
            </a:pPr>
            <a:r>
              <a:rPr lang="en-US" sz="1400" dirty="0" smtClean="0">
                <a:solidFill>
                  <a:schemeClr val="tx1">
                    <a:lumMod val="65000"/>
                    <a:lumOff val="35000"/>
                  </a:schemeClr>
                </a:solidFill>
                <a:latin typeface="Courier New" pitchFamily="49" charset="0"/>
                <a:cs typeface="Courier New" pitchFamily="49" charset="0"/>
              </a:rPr>
              <a:t>      </a:t>
            </a:r>
            <a:r>
              <a:rPr lang="en-US" sz="1400" dirty="0" err="1" smtClean="0">
                <a:solidFill>
                  <a:schemeClr val="tx1">
                    <a:lumMod val="65000"/>
                    <a:lumOff val="35000"/>
                  </a:schemeClr>
                </a:solidFill>
                <a:latin typeface="Courier New" pitchFamily="49" charset="0"/>
                <a:cs typeface="Courier New" pitchFamily="49" charset="0"/>
              </a:rPr>
              <a:t>INT,Score</a:t>
            </a:r>
            <a:r>
              <a:rPr lang="en-US" sz="1400" dirty="0" smtClean="0">
                <a:solidFill>
                  <a:schemeClr val="tx1">
                    <a:lumMod val="65000"/>
                    <a:lumOff val="35000"/>
                  </a:schemeClr>
                </a:solidFill>
                <a:latin typeface="Courier New" pitchFamily="49" charset="0"/>
                <a:cs typeface="Courier New" pitchFamily="49" charset="0"/>
              </a:rPr>
              <a:t> INT, Time TIMESTAMP, Summary STRING, Text STRING)</a:t>
            </a:r>
          </a:p>
          <a:p>
            <a:pPr lvl="1">
              <a:buNone/>
            </a:pPr>
            <a:r>
              <a:rPr lang="en-US" sz="1400" b="1" dirty="0" smtClean="0">
                <a:solidFill>
                  <a:schemeClr val="tx1">
                    <a:lumMod val="65000"/>
                    <a:lumOff val="35000"/>
                  </a:schemeClr>
                </a:solidFill>
                <a:latin typeface="Courier New" pitchFamily="49" charset="0"/>
                <a:cs typeface="Courier New" pitchFamily="49" charset="0"/>
              </a:rPr>
              <a:t>      </a:t>
            </a:r>
            <a:r>
              <a:rPr lang="en-US" sz="1400" b="1" u="sng" dirty="0" smtClean="0">
                <a:solidFill>
                  <a:schemeClr val="tx1">
                    <a:lumMod val="65000"/>
                    <a:lumOff val="35000"/>
                  </a:schemeClr>
                </a:solidFill>
                <a:latin typeface="Courier New" pitchFamily="49" charset="0"/>
                <a:cs typeface="Courier New" pitchFamily="49" charset="0"/>
              </a:rPr>
              <a:t>ROW FORMAT SERDE </a:t>
            </a:r>
          </a:p>
          <a:p>
            <a:pPr lvl="1">
              <a:buNone/>
            </a:pPr>
            <a:r>
              <a:rPr lang="en-US" sz="1400" b="1" dirty="0" smtClean="0">
                <a:solidFill>
                  <a:schemeClr val="tx1">
                    <a:lumMod val="65000"/>
                    <a:lumOff val="35000"/>
                  </a:schemeClr>
                </a:solidFill>
                <a:latin typeface="Courier New" pitchFamily="49" charset="0"/>
                <a:cs typeface="Courier New" pitchFamily="49" charset="0"/>
              </a:rPr>
              <a:t>      </a:t>
            </a:r>
            <a:r>
              <a:rPr lang="en-US" sz="1400" b="1" u="sng" dirty="0" smtClean="0">
                <a:solidFill>
                  <a:schemeClr val="tx1">
                    <a:lumMod val="65000"/>
                    <a:lumOff val="35000"/>
                  </a:schemeClr>
                </a:solidFill>
                <a:latin typeface="Courier New" pitchFamily="49" charset="0"/>
                <a:cs typeface="Courier New" pitchFamily="49" charset="0"/>
              </a:rPr>
              <a:t>'org.apache.hadoop.hive.serde2.OpenCSVSerde'</a:t>
            </a:r>
            <a:r>
              <a:rPr lang="en-US" sz="1400" b="1" dirty="0" smtClean="0">
                <a:solidFill>
                  <a:schemeClr val="tx1">
                    <a:lumMod val="65000"/>
                    <a:lumOff val="35000"/>
                  </a:schemeClr>
                </a:solidFill>
                <a:latin typeface="Courier New" pitchFamily="49" charset="0"/>
                <a:cs typeface="Courier New" pitchFamily="49" charset="0"/>
              </a:rPr>
              <a:t>      </a:t>
            </a:r>
          </a:p>
          <a:p>
            <a:pPr lvl="1">
              <a:buNone/>
            </a:pPr>
            <a:r>
              <a:rPr lang="en-US" sz="1400" dirty="0" smtClean="0">
                <a:solidFill>
                  <a:schemeClr val="tx1">
                    <a:lumMod val="65000"/>
                    <a:lumOff val="35000"/>
                  </a:schemeClr>
                </a:solidFill>
                <a:latin typeface="Courier New" pitchFamily="49" charset="0"/>
                <a:cs typeface="Courier New" pitchFamily="49" charset="0"/>
              </a:rPr>
              <a:t>      STORED AS TEXTFILE</a:t>
            </a:r>
          </a:p>
          <a:p>
            <a:pPr lvl="1">
              <a:buNone/>
            </a:pPr>
            <a:r>
              <a:rPr lang="en-US" sz="1400" dirty="0" smtClean="0">
                <a:solidFill>
                  <a:schemeClr val="tx1">
                    <a:lumMod val="65000"/>
                    <a:lumOff val="35000"/>
                  </a:schemeClr>
                </a:solidFill>
                <a:latin typeface="Courier New" pitchFamily="49" charset="0"/>
                <a:cs typeface="Courier New" pitchFamily="49" charset="0"/>
              </a:rPr>
              <a:t>      </a:t>
            </a:r>
            <a:r>
              <a:rPr lang="en-US" sz="1400" dirty="0" err="1" smtClean="0">
                <a:solidFill>
                  <a:schemeClr val="tx1">
                    <a:lumMod val="65000"/>
                    <a:lumOff val="35000"/>
                  </a:schemeClr>
                </a:solidFill>
                <a:latin typeface="Courier New" pitchFamily="49" charset="0"/>
                <a:cs typeface="Courier New" pitchFamily="49" charset="0"/>
              </a:rPr>
              <a:t>tblproperties</a:t>
            </a:r>
            <a:r>
              <a:rPr lang="en-US" sz="1400" dirty="0" smtClean="0">
                <a:solidFill>
                  <a:schemeClr val="tx1">
                    <a:lumMod val="65000"/>
                    <a:lumOff val="35000"/>
                  </a:schemeClr>
                </a:solidFill>
                <a:latin typeface="Courier New" pitchFamily="49" charset="0"/>
                <a:cs typeface="Courier New" pitchFamily="49" charset="0"/>
              </a:rPr>
              <a:t> ("</a:t>
            </a:r>
            <a:r>
              <a:rPr lang="en-US" sz="1400" dirty="0" err="1" smtClean="0">
                <a:solidFill>
                  <a:schemeClr val="tx1">
                    <a:lumMod val="65000"/>
                    <a:lumOff val="35000"/>
                  </a:schemeClr>
                </a:solidFill>
                <a:latin typeface="Courier New" pitchFamily="49" charset="0"/>
                <a:cs typeface="Courier New" pitchFamily="49" charset="0"/>
              </a:rPr>
              <a:t>skip.header.line.count</a:t>
            </a:r>
            <a:r>
              <a:rPr lang="en-US" sz="1400" dirty="0" smtClean="0">
                <a:solidFill>
                  <a:schemeClr val="tx1">
                    <a:lumMod val="65000"/>
                    <a:lumOff val="35000"/>
                  </a:schemeClr>
                </a:solidFill>
                <a:latin typeface="Courier New" pitchFamily="49" charset="0"/>
                <a:cs typeface="Courier New" pitchFamily="49" charset="0"/>
              </a:rPr>
              <a:t>"="1");</a:t>
            </a:r>
          </a:p>
          <a:p>
            <a:pPr>
              <a:buNone/>
            </a:pPr>
            <a:endParaRPr lang="en-US" sz="1600" dirty="0" smtClean="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DATA Handling</a:t>
            </a:r>
            <a:r>
              <a:rPr lang="en-US" sz="2800" dirty="0" smtClean="0">
                <a:latin typeface="Arial Black" pitchFamily="34" charset="0"/>
              </a:rPr>
              <a:t> </a:t>
            </a:r>
            <a:r>
              <a:rPr lang="en-US" sz="2800" dirty="0" smtClean="0">
                <a:latin typeface="Arial Black" pitchFamily="34" charset="0"/>
              </a:rPr>
              <a:t>(contd.)</a:t>
            </a:r>
            <a:endParaRPr lang="en-US" sz="2800" dirty="0"/>
          </a:p>
        </p:txBody>
      </p:sp>
      <p:sp>
        <p:nvSpPr>
          <p:cNvPr id="3" name="Content Placeholder 2"/>
          <p:cNvSpPr>
            <a:spLocks noGrp="1"/>
          </p:cNvSpPr>
          <p:nvPr>
            <p:ph sz="quarter" idx="1"/>
          </p:nvPr>
        </p:nvSpPr>
        <p:spPr/>
        <p:txBody>
          <a:bodyPr>
            <a:normAutofit/>
          </a:bodyPr>
          <a:lstStyle/>
          <a:p>
            <a:pPr>
              <a:buNone/>
            </a:pPr>
            <a:endParaRPr lang="en-US" sz="1600" dirty="0" smtClean="0">
              <a:solidFill>
                <a:schemeClr val="tx1">
                  <a:lumMod val="75000"/>
                  <a:lumOff val="25000"/>
                </a:schemeClr>
              </a:solidFill>
              <a:latin typeface="Arial" pitchFamily="34" charset="0"/>
              <a:cs typeface="Arial" pitchFamily="34" charset="0"/>
            </a:endParaRPr>
          </a:p>
          <a:p>
            <a:pPr>
              <a:buNone/>
            </a:pPr>
            <a:r>
              <a:rPr lang="en-US" sz="1600" b="1" u="sng" dirty="0" smtClean="0">
                <a:solidFill>
                  <a:schemeClr val="tx1">
                    <a:lumMod val="65000"/>
                    <a:lumOff val="35000"/>
                  </a:schemeClr>
                </a:solidFill>
                <a:latin typeface="Arial" pitchFamily="34" charset="0"/>
                <a:cs typeface="Arial" pitchFamily="34" charset="0"/>
              </a:rPr>
              <a:t>STEP-3</a:t>
            </a:r>
            <a:r>
              <a:rPr lang="en-US" sz="1600" b="1" dirty="0" smtClean="0">
                <a:solidFill>
                  <a:schemeClr val="tx1">
                    <a:lumMod val="65000"/>
                    <a:lumOff val="35000"/>
                  </a:schemeClr>
                </a:solidFill>
                <a:latin typeface="Arial" pitchFamily="34" charset="0"/>
                <a:cs typeface="Arial" pitchFamily="34" charset="0"/>
              </a:rPr>
              <a:t>:  </a:t>
            </a:r>
            <a:r>
              <a:rPr lang="en-US" sz="1600" dirty="0" smtClean="0">
                <a:solidFill>
                  <a:schemeClr val="tx1">
                    <a:lumMod val="65000"/>
                    <a:lumOff val="35000"/>
                  </a:schemeClr>
                </a:solidFill>
                <a:latin typeface="Arial" pitchFamily="34" charset="0"/>
                <a:cs typeface="Arial" pitchFamily="34" charset="0"/>
              </a:rPr>
              <a:t>Load the Reviews dataset into table,</a:t>
            </a:r>
          </a:p>
          <a:p>
            <a:pPr>
              <a:buNone/>
            </a:pPr>
            <a:r>
              <a:rPr lang="en-US" sz="1600" dirty="0" smtClean="0">
                <a:solidFill>
                  <a:schemeClr val="tx1">
                    <a:lumMod val="65000"/>
                    <a:lumOff val="35000"/>
                  </a:schemeClr>
                </a:solidFill>
                <a:latin typeface="Arial" pitchFamily="34" charset="0"/>
                <a:cs typeface="Arial" pitchFamily="34" charset="0"/>
              </a:rPr>
              <a:t>		LOAD DATA INPATH '</a:t>
            </a:r>
            <a:r>
              <a:rPr lang="en-US" sz="1600" dirty="0" err="1" smtClean="0">
                <a:solidFill>
                  <a:schemeClr val="tx1">
                    <a:lumMod val="65000"/>
                    <a:lumOff val="35000"/>
                  </a:schemeClr>
                </a:solidFill>
                <a:latin typeface="Arial" pitchFamily="34" charset="0"/>
                <a:cs typeface="Arial" pitchFamily="34" charset="0"/>
              </a:rPr>
              <a:t>sb_amazon_food_reviews</a:t>
            </a:r>
            <a:r>
              <a:rPr lang="en-US" sz="1600" dirty="0" smtClean="0">
                <a:solidFill>
                  <a:schemeClr val="tx1">
                    <a:lumMod val="65000"/>
                    <a:lumOff val="35000"/>
                  </a:schemeClr>
                </a:solidFill>
                <a:latin typeface="Arial" pitchFamily="34" charset="0"/>
                <a:cs typeface="Arial" pitchFamily="34" charset="0"/>
              </a:rPr>
              <a:t>/Reviews.csv' </a:t>
            </a:r>
          </a:p>
          <a:p>
            <a:pPr>
              <a:buNone/>
            </a:pPr>
            <a:r>
              <a:rPr lang="en-US" sz="1600" dirty="0" smtClean="0">
                <a:solidFill>
                  <a:schemeClr val="tx1">
                    <a:lumMod val="65000"/>
                    <a:lumOff val="35000"/>
                  </a:schemeClr>
                </a:solidFill>
                <a:latin typeface="Arial" pitchFamily="34" charset="0"/>
                <a:cs typeface="Arial" pitchFamily="34" charset="0"/>
              </a:rPr>
              <a:t>		OVERWRITE INTO TABLE </a:t>
            </a:r>
            <a:r>
              <a:rPr lang="en-US" sz="1600" dirty="0" err="1" smtClean="0">
                <a:solidFill>
                  <a:schemeClr val="tx1">
                    <a:lumMod val="65000"/>
                    <a:lumOff val="35000"/>
                  </a:schemeClr>
                </a:solidFill>
                <a:latin typeface="Arial" pitchFamily="34" charset="0"/>
                <a:cs typeface="Arial" pitchFamily="34" charset="0"/>
              </a:rPr>
              <a:t>amazon_food_review_table</a:t>
            </a:r>
            <a:r>
              <a:rPr lang="en-US" sz="1600" dirty="0" smtClean="0">
                <a:solidFill>
                  <a:schemeClr val="tx1">
                    <a:lumMod val="65000"/>
                    <a:lumOff val="35000"/>
                  </a:schemeClr>
                </a:solidFill>
                <a:latin typeface="Arial" pitchFamily="34" charset="0"/>
                <a:cs typeface="Arial" pitchFamily="34" charset="0"/>
              </a:rPr>
              <a:t>;</a:t>
            </a:r>
          </a:p>
          <a:p>
            <a:pPr>
              <a:buNone/>
            </a:pPr>
            <a:endParaRPr lang="en-US" sz="1600" dirty="0" smtClean="0">
              <a:solidFill>
                <a:schemeClr val="tx1">
                  <a:lumMod val="65000"/>
                  <a:lumOff val="35000"/>
                </a:schemeClr>
              </a:solidFill>
              <a:latin typeface="Arial" pitchFamily="34" charset="0"/>
              <a:cs typeface="Arial" pitchFamily="34" charset="0"/>
            </a:endParaRPr>
          </a:p>
          <a:p>
            <a:pPr>
              <a:buNone/>
            </a:pPr>
            <a:r>
              <a:rPr lang="en-US" sz="1600" b="1" u="sng" dirty="0" smtClean="0">
                <a:solidFill>
                  <a:schemeClr val="tx1">
                    <a:lumMod val="65000"/>
                    <a:lumOff val="35000"/>
                  </a:schemeClr>
                </a:solidFill>
                <a:latin typeface="Arial" pitchFamily="34" charset="0"/>
                <a:cs typeface="Arial" pitchFamily="34" charset="0"/>
              </a:rPr>
              <a:t>STEP-4:</a:t>
            </a:r>
            <a:r>
              <a:rPr lang="en-US" sz="1600" b="1" dirty="0" smtClean="0">
                <a:solidFill>
                  <a:schemeClr val="tx1">
                    <a:lumMod val="65000"/>
                    <a:lumOff val="35000"/>
                  </a:schemeClr>
                </a:solidFill>
                <a:latin typeface="Arial" pitchFamily="34" charset="0"/>
                <a:cs typeface="Arial" pitchFamily="34" charset="0"/>
              </a:rPr>
              <a:t>  </a:t>
            </a:r>
            <a:r>
              <a:rPr lang="en-US" sz="1600" dirty="0" smtClean="0">
                <a:solidFill>
                  <a:schemeClr val="tx1">
                    <a:lumMod val="65000"/>
                    <a:lumOff val="35000"/>
                  </a:schemeClr>
                </a:solidFill>
                <a:latin typeface="Arial" pitchFamily="34" charset="0"/>
                <a:cs typeface="Arial" pitchFamily="34" charset="0"/>
              </a:rPr>
              <a:t>With CSV </a:t>
            </a:r>
            <a:r>
              <a:rPr lang="en-US" sz="1600" dirty="0" err="1" smtClean="0">
                <a:solidFill>
                  <a:schemeClr val="tx1">
                    <a:lumMod val="65000"/>
                    <a:lumOff val="35000"/>
                  </a:schemeClr>
                </a:solidFill>
                <a:latin typeface="Arial" pitchFamily="34" charset="0"/>
                <a:cs typeface="Arial" pitchFamily="34" charset="0"/>
              </a:rPr>
              <a:t>SerDe,all</a:t>
            </a:r>
            <a:r>
              <a:rPr lang="en-US" sz="1600" dirty="0" smtClean="0">
                <a:solidFill>
                  <a:schemeClr val="tx1">
                    <a:lumMod val="65000"/>
                    <a:lumOff val="35000"/>
                  </a:schemeClr>
                </a:solidFill>
                <a:latin typeface="Arial" pitchFamily="34" charset="0"/>
                <a:cs typeface="Arial" pitchFamily="34" charset="0"/>
              </a:rPr>
              <a:t> items will be implicitly type casted to STRING.</a:t>
            </a:r>
          </a:p>
          <a:p>
            <a:pPr>
              <a:buNone/>
            </a:pPr>
            <a:r>
              <a:rPr lang="en-US" sz="1600" dirty="0" smtClean="0">
                <a:solidFill>
                  <a:schemeClr val="tx1">
                    <a:lumMod val="65000"/>
                    <a:lumOff val="35000"/>
                  </a:schemeClr>
                </a:solidFill>
                <a:latin typeface="Arial" pitchFamily="34" charset="0"/>
                <a:cs typeface="Arial" pitchFamily="34" charset="0"/>
              </a:rPr>
              <a:t>		DESCRIBE </a:t>
            </a:r>
            <a:r>
              <a:rPr lang="en-US" sz="1600" dirty="0" err="1" smtClean="0">
                <a:solidFill>
                  <a:schemeClr val="tx1">
                    <a:lumMod val="65000"/>
                    <a:lumOff val="35000"/>
                  </a:schemeClr>
                </a:solidFill>
                <a:latin typeface="Arial" pitchFamily="34" charset="0"/>
                <a:cs typeface="Arial" pitchFamily="34" charset="0"/>
              </a:rPr>
              <a:t>amazon_food_review_table</a:t>
            </a:r>
            <a:r>
              <a:rPr lang="en-US" sz="1600" dirty="0" smtClean="0">
                <a:solidFill>
                  <a:schemeClr val="tx1">
                    <a:lumMod val="65000"/>
                    <a:lumOff val="35000"/>
                  </a:schemeClr>
                </a:solidFill>
                <a:latin typeface="Arial" pitchFamily="34" charset="0"/>
                <a:cs typeface="Arial" pitchFamily="34" charset="0"/>
              </a:rPr>
              <a:t>;</a:t>
            </a:r>
          </a:p>
          <a:p>
            <a:pPr lvl="3">
              <a:buNone/>
            </a:pPr>
            <a:r>
              <a:rPr lang="en-US" sz="1400" dirty="0" smtClean="0">
                <a:solidFill>
                  <a:schemeClr val="tx1">
                    <a:lumMod val="65000"/>
                    <a:lumOff val="35000"/>
                  </a:schemeClr>
                </a:solidFill>
                <a:latin typeface="Courier New" pitchFamily="49" charset="0"/>
                <a:cs typeface="Courier New" pitchFamily="49" charset="0"/>
              </a:rPr>
              <a:t>id                      string</a:t>
            </a:r>
          </a:p>
          <a:p>
            <a:pPr lvl="3">
              <a:buNone/>
            </a:pPr>
            <a:r>
              <a:rPr lang="en-US" sz="1400" dirty="0" err="1" smtClean="0">
                <a:solidFill>
                  <a:schemeClr val="tx1">
                    <a:lumMod val="65000"/>
                    <a:lumOff val="35000"/>
                  </a:schemeClr>
                </a:solidFill>
                <a:latin typeface="Courier New" pitchFamily="49" charset="0"/>
                <a:cs typeface="Courier New" pitchFamily="49" charset="0"/>
              </a:rPr>
              <a:t>productid</a:t>
            </a:r>
            <a:r>
              <a:rPr lang="en-US" sz="1400" dirty="0" smtClean="0">
                <a:solidFill>
                  <a:schemeClr val="tx1">
                    <a:lumMod val="65000"/>
                    <a:lumOff val="35000"/>
                  </a:schemeClr>
                </a:solidFill>
                <a:latin typeface="Courier New" pitchFamily="49" charset="0"/>
                <a:cs typeface="Courier New" pitchFamily="49" charset="0"/>
              </a:rPr>
              <a:t>               string</a:t>
            </a:r>
          </a:p>
          <a:p>
            <a:pPr lvl="3">
              <a:buNone/>
            </a:pPr>
            <a:r>
              <a:rPr lang="en-US" sz="1400" dirty="0" err="1" smtClean="0">
                <a:solidFill>
                  <a:schemeClr val="tx1">
                    <a:lumMod val="65000"/>
                    <a:lumOff val="35000"/>
                  </a:schemeClr>
                </a:solidFill>
                <a:latin typeface="Courier New" pitchFamily="49" charset="0"/>
                <a:cs typeface="Courier New" pitchFamily="49" charset="0"/>
              </a:rPr>
              <a:t>userid</a:t>
            </a:r>
            <a:r>
              <a:rPr lang="en-US" sz="1400" dirty="0" smtClean="0">
                <a:solidFill>
                  <a:schemeClr val="tx1">
                    <a:lumMod val="65000"/>
                    <a:lumOff val="35000"/>
                  </a:schemeClr>
                </a:solidFill>
                <a:latin typeface="Courier New" pitchFamily="49" charset="0"/>
                <a:cs typeface="Courier New" pitchFamily="49" charset="0"/>
              </a:rPr>
              <a:t>                  string</a:t>
            </a:r>
          </a:p>
          <a:p>
            <a:pPr lvl="3">
              <a:buNone/>
            </a:pPr>
            <a:r>
              <a:rPr lang="en-US" sz="1400" dirty="0" err="1" smtClean="0">
                <a:solidFill>
                  <a:schemeClr val="tx1">
                    <a:lumMod val="65000"/>
                    <a:lumOff val="35000"/>
                  </a:schemeClr>
                </a:solidFill>
                <a:latin typeface="Courier New" pitchFamily="49" charset="0"/>
                <a:cs typeface="Courier New" pitchFamily="49" charset="0"/>
              </a:rPr>
              <a:t>profilename</a:t>
            </a:r>
            <a:r>
              <a:rPr lang="en-US" sz="1400" dirty="0" smtClean="0">
                <a:solidFill>
                  <a:schemeClr val="tx1">
                    <a:lumMod val="65000"/>
                    <a:lumOff val="35000"/>
                  </a:schemeClr>
                </a:solidFill>
                <a:latin typeface="Courier New" pitchFamily="49" charset="0"/>
                <a:cs typeface="Courier New" pitchFamily="49" charset="0"/>
              </a:rPr>
              <a:t>             string</a:t>
            </a:r>
          </a:p>
          <a:p>
            <a:pPr lvl="3">
              <a:buNone/>
            </a:pPr>
            <a:r>
              <a:rPr lang="en-US" sz="1400" dirty="0" err="1" smtClean="0">
                <a:solidFill>
                  <a:schemeClr val="tx1">
                    <a:lumMod val="65000"/>
                    <a:lumOff val="35000"/>
                  </a:schemeClr>
                </a:solidFill>
                <a:latin typeface="Courier New" pitchFamily="49" charset="0"/>
                <a:cs typeface="Courier New" pitchFamily="49" charset="0"/>
              </a:rPr>
              <a:t>helpfulnessnumerator</a:t>
            </a:r>
            <a:r>
              <a:rPr lang="en-US" sz="1400" dirty="0" smtClean="0">
                <a:solidFill>
                  <a:schemeClr val="tx1">
                    <a:lumMod val="65000"/>
                    <a:lumOff val="35000"/>
                  </a:schemeClr>
                </a:solidFill>
                <a:latin typeface="Courier New" pitchFamily="49" charset="0"/>
                <a:cs typeface="Courier New" pitchFamily="49" charset="0"/>
              </a:rPr>
              <a:t>    string</a:t>
            </a:r>
          </a:p>
          <a:p>
            <a:pPr lvl="3">
              <a:buNone/>
            </a:pPr>
            <a:r>
              <a:rPr lang="en-US" sz="1400" dirty="0" err="1" smtClean="0">
                <a:solidFill>
                  <a:schemeClr val="tx1">
                    <a:lumMod val="65000"/>
                    <a:lumOff val="35000"/>
                  </a:schemeClr>
                </a:solidFill>
                <a:latin typeface="Courier New" pitchFamily="49" charset="0"/>
                <a:cs typeface="Courier New" pitchFamily="49" charset="0"/>
              </a:rPr>
              <a:t>helpfulnessdenominator</a:t>
            </a:r>
            <a:r>
              <a:rPr lang="en-US" sz="1400" dirty="0" smtClean="0">
                <a:solidFill>
                  <a:schemeClr val="tx1">
                    <a:lumMod val="65000"/>
                    <a:lumOff val="35000"/>
                  </a:schemeClr>
                </a:solidFill>
                <a:latin typeface="Courier New" pitchFamily="49" charset="0"/>
                <a:cs typeface="Courier New" pitchFamily="49" charset="0"/>
              </a:rPr>
              <a:t>  string</a:t>
            </a:r>
          </a:p>
          <a:p>
            <a:pPr lvl="3">
              <a:buNone/>
            </a:pPr>
            <a:r>
              <a:rPr lang="en-US" sz="1400" dirty="0" smtClean="0">
                <a:solidFill>
                  <a:schemeClr val="tx1">
                    <a:lumMod val="65000"/>
                    <a:lumOff val="35000"/>
                  </a:schemeClr>
                </a:solidFill>
                <a:latin typeface="Courier New" pitchFamily="49" charset="0"/>
                <a:cs typeface="Courier New" pitchFamily="49" charset="0"/>
              </a:rPr>
              <a:t>score                   string</a:t>
            </a:r>
          </a:p>
          <a:p>
            <a:pPr lvl="3">
              <a:buNone/>
            </a:pPr>
            <a:r>
              <a:rPr lang="en-US" sz="1400" dirty="0" smtClean="0">
                <a:solidFill>
                  <a:schemeClr val="tx1">
                    <a:lumMod val="65000"/>
                    <a:lumOff val="35000"/>
                  </a:schemeClr>
                </a:solidFill>
                <a:latin typeface="Courier New" pitchFamily="49" charset="0"/>
                <a:cs typeface="Courier New" pitchFamily="49" charset="0"/>
              </a:rPr>
              <a:t>time                    string</a:t>
            </a:r>
          </a:p>
          <a:p>
            <a:pPr lvl="3">
              <a:buNone/>
            </a:pPr>
            <a:r>
              <a:rPr lang="en-US" sz="1400" dirty="0" smtClean="0">
                <a:solidFill>
                  <a:schemeClr val="tx1">
                    <a:lumMod val="65000"/>
                    <a:lumOff val="35000"/>
                  </a:schemeClr>
                </a:solidFill>
                <a:latin typeface="Courier New" pitchFamily="49" charset="0"/>
                <a:cs typeface="Courier New" pitchFamily="49" charset="0"/>
              </a:rPr>
              <a:t>summary                 string</a:t>
            </a:r>
          </a:p>
          <a:p>
            <a:pPr lvl="3">
              <a:buNone/>
            </a:pPr>
            <a:r>
              <a:rPr lang="en-US" sz="1400" dirty="0" smtClean="0">
                <a:solidFill>
                  <a:schemeClr val="tx1">
                    <a:lumMod val="65000"/>
                    <a:lumOff val="35000"/>
                  </a:schemeClr>
                </a:solidFill>
                <a:latin typeface="Courier New" pitchFamily="49" charset="0"/>
                <a:cs typeface="Courier New" pitchFamily="49" charset="0"/>
              </a:rPr>
              <a:t>text                    string</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b="1" u="sng" dirty="0" smtClean="0">
              <a:solidFill>
                <a:schemeClr val="tx1">
                  <a:lumMod val="75000"/>
                  <a:lumOff val="25000"/>
                </a:schemeClr>
              </a:solidFill>
              <a:latin typeface="Arial" pitchFamily="34" charset="0"/>
              <a:cs typeface="Arial" pitchFamily="34" charset="0"/>
            </a:endParaRPr>
          </a:p>
          <a:p>
            <a:pPr>
              <a:buNone/>
            </a:pPr>
            <a:endParaRPr lang="en-US" sz="16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Data handling</a:t>
            </a:r>
            <a:r>
              <a:rPr lang="en-US" sz="2800" dirty="0" smtClean="0">
                <a:latin typeface="Arial Black" pitchFamily="34" charset="0"/>
              </a:rPr>
              <a:t> </a:t>
            </a:r>
            <a:r>
              <a:rPr lang="en-US" sz="2800" dirty="0" smtClean="0">
                <a:latin typeface="Arial Black" pitchFamily="34" charset="0"/>
              </a:rPr>
              <a:t>(contd.)</a:t>
            </a:r>
            <a:endParaRPr lang="en-US" sz="2800" dirty="0"/>
          </a:p>
        </p:txBody>
      </p:sp>
      <p:sp>
        <p:nvSpPr>
          <p:cNvPr id="3" name="Content Placeholder 2"/>
          <p:cNvSpPr>
            <a:spLocks noGrp="1"/>
          </p:cNvSpPr>
          <p:nvPr>
            <p:ph sz="quarter" idx="1"/>
          </p:nvPr>
        </p:nvSpPr>
        <p:spPr/>
        <p:txBody>
          <a:bodyPr>
            <a:normAutofit lnSpcReduction="10000"/>
          </a:bodyPr>
          <a:lstStyle/>
          <a:p>
            <a:pPr>
              <a:buNone/>
            </a:pPr>
            <a:r>
              <a:rPr lang="en-US" sz="1600" b="1" u="sng" dirty="0" smtClean="0">
                <a:solidFill>
                  <a:schemeClr val="tx1">
                    <a:lumMod val="65000"/>
                    <a:lumOff val="35000"/>
                  </a:schemeClr>
                </a:solidFill>
                <a:latin typeface="Arial" pitchFamily="34" charset="0"/>
                <a:cs typeface="Arial" pitchFamily="34" charset="0"/>
              </a:rPr>
              <a:t>STEP-5:</a:t>
            </a:r>
            <a:r>
              <a:rPr lang="en-US" sz="1600" dirty="0" smtClean="0">
                <a:solidFill>
                  <a:schemeClr val="tx1">
                    <a:lumMod val="65000"/>
                    <a:lumOff val="35000"/>
                  </a:schemeClr>
                </a:solidFill>
                <a:latin typeface="Arial" pitchFamily="34" charset="0"/>
                <a:cs typeface="Arial" pitchFamily="34" charset="0"/>
              </a:rPr>
              <a:t>  Create another table within </a:t>
            </a:r>
            <a:r>
              <a:rPr lang="en-US" sz="1600" dirty="0" err="1" smtClean="0">
                <a:solidFill>
                  <a:schemeClr val="tx1">
                    <a:lumMod val="65000"/>
                    <a:lumOff val="35000"/>
                  </a:schemeClr>
                </a:solidFill>
                <a:latin typeface="Arial" pitchFamily="34" charset="0"/>
                <a:cs typeface="Arial" pitchFamily="34" charset="0"/>
              </a:rPr>
              <a:t>sb_amazon_food_review_db</a:t>
            </a:r>
            <a:r>
              <a:rPr lang="en-US" sz="1600" dirty="0" smtClean="0">
                <a:solidFill>
                  <a:schemeClr val="tx1">
                    <a:lumMod val="65000"/>
                    <a:lumOff val="35000"/>
                  </a:schemeClr>
                </a:solidFill>
                <a:latin typeface="Arial" pitchFamily="34" charset="0"/>
                <a:cs typeface="Arial" pitchFamily="34" charset="0"/>
              </a:rPr>
              <a:t>,</a:t>
            </a:r>
          </a:p>
          <a:p>
            <a:pPr>
              <a:buNone/>
            </a:pPr>
            <a:r>
              <a:rPr lang="en-US" sz="1600" dirty="0" smtClean="0">
                <a:solidFill>
                  <a:schemeClr val="tx1">
                    <a:lumMod val="65000"/>
                    <a:lumOff val="35000"/>
                  </a:schemeClr>
                </a:solidFill>
                <a:latin typeface="Courier New" pitchFamily="49" charset="0"/>
                <a:cs typeface="Courier New" pitchFamily="49" charset="0"/>
              </a:rPr>
              <a:t>		create EXTERNAL TABLE IF NOT EXISTS 	</a:t>
            </a: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 (Id INT, </a:t>
            </a: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STRING, 	</a:t>
            </a:r>
            <a:r>
              <a:rPr lang="en-US" sz="1600" dirty="0" err="1" smtClean="0">
                <a:solidFill>
                  <a:schemeClr val="tx1">
                    <a:lumMod val="65000"/>
                    <a:lumOff val="35000"/>
                  </a:schemeClr>
                </a:solidFill>
                <a:latin typeface="Courier New" pitchFamily="49" charset="0"/>
                <a:cs typeface="Courier New" pitchFamily="49" charset="0"/>
              </a:rPr>
              <a:t>UserId</a:t>
            </a:r>
            <a:r>
              <a:rPr lang="en-US" sz="1600" dirty="0" smtClean="0">
                <a:solidFill>
                  <a:schemeClr val="tx1">
                    <a:lumMod val="65000"/>
                    <a:lumOff val="35000"/>
                  </a:schemeClr>
                </a:solidFill>
                <a:latin typeface="Courier New" pitchFamily="49" charset="0"/>
                <a:cs typeface="Courier New" pitchFamily="49" charset="0"/>
              </a:rPr>
              <a:t> STRING, </a:t>
            </a:r>
            <a:r>
              <a:rPr lang="en-US" sz="1600" dirty="0" err="1" smtClean="0">
                <a:solidFill>
                  <a:schemeClr val="tx1">
                    <a:lumMod val="65000"/>
                    <a:lumOff val="35000"/>
                  </a:schemeClr>
                </a:solidFill>
                <a:latin typeface="Courier New" pitchFamily="49" charset="0"/>
                <a:cs typeface="Courier New" pitchFamily="49" charset="0"/>
              </a:rPr>
              <a:t>HelpfulnessNumerator</a:t>
            </a:r>
            <a:r>
              <a:rPr lang="en-US" sz="1600" dirty="0" smtClean="0">
                <a:solidFill>
                  <a:schemeClr val="tx1">
                    <a:lumMod val="65000"/>
                    <a:lumOff val="35000"/>
                  </a:schemeClr>
                </a:solidFill>
                <a:latin typeface="Courier New" pitchFamily="49" charset="0"/>
                <a:cs typeface="Courier New" pitchFamily="49" charset="0"/>
              </a:rPr>
              <a:t> INT, 	</a:t>
            </a:r>
            <a:r>
              <a:rPr lang="en-US" sz="1600" dirty="0" err="1" smtClean="0">
                <a:solidFill>
                  <a:schemeClr val="tx1">
                    <a:lumMod val="65000"/>
                    <a:lumOff val="35000"/>
                  </a:schemeClr>
                </a:solidFill>
                <a:latin typeface="Courier New" pitchFamily="49" charset="0"/>
                <a:cs typeface="Courier New" pitchFamily="49" charset="0"/>
              </a:rPr>
              <a:t>HelpfulnessDenominator</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INT,Score</a:t>
            </a:r>
            <a:r>
              <a:rPr lang="en-US" sz="1600" dirty="0" smtClean="0">
                <a:solidFill>
                  <a:schemeClr val="tx1">
                    <a:lumMod val="65000"/>
                    <a:lumOff val="35000"/>
                  </a:schemeClr>
                </a:solidFill>
                <a:latin typeface="Courier New" pitchFamily="49" charset="0"/>
                <a:cs typeface="Courier New" pitchFamily="49" charset="0"/>
              </a:rPr>
              <a:t> INT, Time STRING)</a:t>
            </a:r>
          </a:p>
          <a:p>
            <a:pPr>
              <a:buNone/>
            </a:pPr>
            <a:r>
              <a:rPr lang="en-US" sz="1600" dirty="0" smtClean="0">
                <a:solidFill>
                  <a:schemeClr val="tx1">
                    <a:lumMod val="65000"/>
                    <a:lumOff val="35000"/>
                  </a:schemeClr>
                </a:solidFill>
                <a:latin typeface="Courier New" pitchFamily="49" charset="0"/>
                <a:cs typeface="Courier New" pitchFamily="49" charset="0"/>
              </a:rPr>
              <a:t>		ROW FORMAT DELIMITED</a:t>
            </a:r>
          </a:p>
          <a:p>
            <a:pPr>
              <a:buNone/>
            </a:pPr>
            <a:r>
              <a:rPr lang="en-US" sz="1600" dirty="0" smtClean="0">
                <a:solidFill>
                  <a:schemeClr val="tx1">
                    <a:lumMod val="65000"/>
                    <a:lumOff val="35000"/>
                  </a:schemeClr>
                </a:solidFill>
                <a:latin typeface="Courier New" pitchFamily="49" charset="0"/>
                <a:cs typeface="Courier New" pitchFamily="49" charset="0"/>
              </a:rPr>
              <a:t>		FIELDS TERMINATED BY ','     </a:t>
            </a:r>
          </a:p>
          <a:p>
            <a:pPr>
              <a:buNone/>
            </a:pPr>
            <a:r>
              <a:rPr lang="en-US" sz="1600" dirty="0" smtClean="0">
                <a:solidFill>
                  <a:schemeClr val="tx1">
                    <a:lumMod val="65000"/>
                    <a:lumOff val="35000"/>
                  </a:schemeClr>
                </a:solidFill>
                <a:latin typeface="Courier New" pitchFamily="49" charset="0"/>
                <a:cs typeface="Courier New" pitchFamily="49" charset="0"/>
              </a:rPr>
              <a:t>		STORED AS TEXTFILE;</a:t>
            </a:r>
          </a:p>
          <a:p>
            <a:pPr>
              <a:buNone/>
            </a:pPr>
            <a:endParaRPr lang="en-US" sz="1600" dirty="0" smtClean="0">
              <a:solidFill>
                <a:schemeClr val="tx1">
                  <a:lumMod val="65000"/>
                  <a:lumOff val="35000"/>
                </a:schemeClr>
              </a:solidFill>
              <a:latin typeface="Arial" pitchFamily="34" charset="0"/>
              <a:cs typeface="Arial" pitchFamily="34" charset="0"/>
            </a:endParaRPr>
          </a:p>
          <a:p>
            <a:pPr>
              <a:buNone/>
            </a:pPr>
            <a:r>
              <a:rPr lang="en-US" sz="1600" b="1" u="sng" dirty="0" smtClean="0">
                <a:solidFill>
                  <a:schemeClr val="tx1">
                    <a:lumMod val="65000"/>
                    <a:lumOff val="35000"/>
                  </a:schemeClr>
                </a:solidFill>
                <a:latin typeface="Arial" pitchFamily="34" charset="0"/>
                <a:cs typeface="Arial" pitchFamily="34" charset="0"/>
              </a:rPr>
              <a:t>STEP-6:</a:t>
            </a:r>
            <a:r>
              <a:rPr lang="en-US" sz="1600" dirty="0" smtClean="0">
                <a:solidFill>
                  <a:schemeClr val="tx1">
                    <a:lumMod val="65000"/>
                    <a:lumOff val="35000"/>
                  </a:schemeClr>
                </a:solidFill>
                <a:latin typeface="Arial" pitchFamily="34" charset="0"/>
                <a:cs typeface="Arial" pitchFamily="34" charset="0"/>
              </a:rPr>
              <a:t> Copy all the content of table into </a:t>
            </a:r>
            <a:r>
              <a:rPr lang="en-US" sz="1600" dirty="0" err="1" smtClean="0">
                <a:solidFill>
                  <a:schemeClr val="tx1">
                    <a:lumMod val="65000"/>
                    <a:lumOff val="35000"/>
                  </a:schemeClr>
                </a:solidFill>
                <a:latin typeface="Arial" pitchFamily="34" charset="0"/>
                <a:cs typeface="Arial" pitchFamily="34" charset="0"/>
              </a:rPr>
              <a:t>amazon_food_review_table</a:t>
            </a:r>
            <a:r>
              <a:rPr lang="en-US" sz="1600" dirty="0" smtClean="0">
                <a:solidFill>
                  <a:schemeClr val="tx1">
                    <a:lumMod val="65000"/>
                    <a:lumOff val="35000"/>
                  </a:schemeClr>
                </a:solidFill>
                <a:latin typeface="Arial" pitchFamily="34" charset="0"/>
                <a:cs typeface="Arial" pitchFamily="34" charset="0"/>
              </a:rPr>
              <a:t> (created </a:t>
            </a:r>
          </a:p>
          <a:p>
            <a:pPr>
              <a:buNone/>
            </a:pPr>
            <a:r>
              <a:rPr lang="en-US" sz="1600" dirty="0" smtClean="0">
                <a:solidFill>
                  <a:schemeClr val="tx1">
                    <a:lumMod val="65000"/>
                    <a:lumOff val="35000"/>
                  </a:schemeClr>
                </a:solidFill>
                <a:latin typeface="Arial" pitchFamily="34" charset="0"/>
                <a:cs typeface="Arial" pitchFamily="34" charset="0"/>
              </a:rPr>
              <a:t>		in STEP-2) into </a:t>
            </a:r>
            <a:r>
              <a:rPr lang="en-US" sz="1600" dirty="0" err="1" smtClean="0">
                <a:solidFill>
                  <a:schemeClr val="tx1">
                    <a:lumMod val="65000"/>
                    <a:lumOff val="35000"/>
                  </a:schemeClr>
                </a:solidFill>
                <a:latin typeface="Arial" pitchFamily="34" charset="0"/>
                <a:cs typeface="Arial" pitchFamily="34" charset="0"/>
              </a:rPr>
              <a:t>amazon_fine_food_table</a:t>
            </a:r>
            <a:r>
              <a:rPr lang="en-US" sz="1600" dirty="0" smtClean="0">
                <a:solidFill>
                  <a:schemeClr val="tx1">
                    <a:lumMod val="65000"/>
                    <a:lumOff val="35000"/>
                  </a:schemeClr>
                </a:solidFill>
                <a:latin typeface="Arial" pitchFamily="34" charset="0"/>
                <a:cs typeface="Arial" pitchFamily="34" charset="0"/>
              </a:rPr>
              <a:t>  (created in STEP-5)</a:t>
            </a:r>
          </a:p>
          <a:p>
            <a:pPr lvl="2">
              <a:buNone/>
            </a:pPr>
            <a:r>
              <a:rPr lang="en-US" sz="1600" dirty="0" smtClean="0">
                <a:solidFill>
                  <a:schemeClr val="tx1">
                    <a:lumMod val="65000"/>
                    <a:lumOff val="35000"/>
                  </a:schemeClr>
                </a:solidFill>
                <a:latin typeface="Courier New" pitchFamily="49" charset="0"/>
                <a:cs typeface="Courier New" pitchFamily="49" charset="0"/>
              </a:rPr>
              <a:t>INSERT OVERWRITE TABLE </a:t>
            </a: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 </a:t>
            </a:r>
          </a:p>
          <a:p>
            <a:pPr lvl="2">
              <a:buNone/>
            </a:pPr>
            <a:r>
              <a:rPr lang="en-US" sz="1600" dirty="0" smtClean="0">
                <a:solidFill>
                  <a:schemeClr val="tx1">
                    <a:lumMod val="65000"/>
                    <a:lumOff val="35000"/>
                  </a:schemeClr>
                </a:solidFill>
                <a:latin typeface="Courier New" pitchFamily="49" charset="0"/>
                <a:cs typeface="Courier New" pitchFamily="49" charset="0"/>
              </a:rPr>
              <a:t>SELECT CAST(Id as </a:t>
            </a:r>
          </a:p>
          <a:p>
            <a:pPr lvl="2">
              <a:buNone/>
            </a:pPr>
            <a:r>
              <a:rPr lang="en-US" sz="1600" dirty="0" smtClean="0">
                <a:solidFill>
                  <a:schemeClr val="tx1">
                    <a:lumMod val="65000"/>
                    <a:lumOff val="35000"/>
                  </a:schemeClr>
                </a:solidFill>
                <a:latin typeface="Courier New" pitchFamily="49" charset="0"/>
                <a:cs typeface="Courier New" pitchFamily="49" charset="0"/>
              </a:rPr>
              <a:t>INT),</a:t>
            </a:r>
            <a:r>
              <a:rPr lang="en-US" sz="1600" dirty="0" err="1" smtClean="0">
                <a:solidFill>
                  <a:schemeClr val="tx1">
                    <a:lumMod val="65000"/>
                    <a:lumOff val="35000"/>
                  </a:schemeClr>
                </a:solidFill>
                <a:latin typeface="Courier New" pitchFamily="49" charset="0"/>
                <a:cs typeface="Courier New" pitchFamily="49" charset="0"/>
              </a:rPr>
              <a:t>ProductId,UserId,CAST</a:t>
            </a:r>
            <a:r>
              <a:rPr lang="en-US" sz="1600" dirty="0" smtClean="0">
                <a:solidFill>
                  <a:schemeClr val="tx1">
                    <a:lumMod val="65000"/>
                    <a:lumOff val="35000"/>
                  </a:schemeClr>
                </a:solidFill>
                <a:latin typeface="Courier New" pitchFamily="49" charset="0"/>
                <a:cs typeface="Courier New" pitchFamily="49" charset="0"/>
              </a:rPr>
              <a:t>(</a:t>
            </a:r>
            <a:r>
              <a:rPr lang="en-US" sz="1600" dirty="0" err="1" smtClean="0">
                <a:solidFill>
                  <a:schemeClr val="tx1">
                    <a:lumMod val="65000"/>
                    <a:lumOff val="35000"/>
                  </a:schemeClr>
                </a:solidFill>
                <a:latin typeface="Courier New" pitchFamily="49" charset="0"/>
                <a:cs typeface="Courier New" pitchFamily="49" charset="0"/>
              </a:rPr>
              <a:t>HelpfulnessNumerator</a:t>
            </a:r>
            <a:r>
              <a:rPr lang="en-US" sz="1600" dirty="0" smtClean="0">
                <a:solidFill>
                  <a:schemeClr val="tx1">
                    <a:lumMod val="65000"/>
                    <a:lumOff val="35000"/>
                  </a:schemeClr>
                </a:solidFill>
                <a:latin typeface="Courier New" pitchFamily="49" charset="0"/>
                <a:cs typeface="Courier New" pitchFamily="49" charset="0"/>
              </a:rPr>
              <a:t> AS </a:t>
            </a:r>
          </a:p>
          <a:p>
            <a:pPr lvl="2">
              <a:buNone/>
            </a:pPr>
            <a:r>
              <a:rPr lang="en-US" sz="1600" dirty="0" smtClean="0">
                <a:solidFill>
                  <a:schemeClr val="tx1">
                    <a:lumMod val="65000"/>
                    <a:lumOff val="35000"/>
                  </a:schemeClr>
                </a:solidFill>
                <a:latin typeface="Courier New" pitchFamily="49" charset="0"/>
                <a:cs typeface="Courier New" pitchFamily="49" charset="0"/>
              </a:rPr>
              <a:t>INT),CAST(</a:t>
            </a:r>
            <a:r>
              <a:rPr lang="en-US" sz="1600" dirty="0" err="1" smtClean="0">
                <a:solidFill>
                  <a:schemeClr val="tx1">
                    <a:lumMod val="65000"/>
                    <a:lumOff val="35000"/>
                  </a:schemeClr>
                </a:solidFill>
                <a:latin typeface="Courier New" pitchFamily="49" charset="0"/>
                <a:cs typeface="Courier New" pitchFamily="49" charset="0"/>
              </a:rPr>
              <a:t>HelpfulnessDenominator</a:t>
            </a:r>
            <a:r>
              <a:rPr lang="en-US" sz="1600" dirty="0" smtClean="0">
                <a:solidFill>
                  <a:schemeClr val="tx1">
                    <a:lumMod val="65000"/>
                    <a:lumOff val="35000"/>
                  </a:schemeClr>
                </a:solidFill>
                <a:latin typeface="Courier New" pitchFamily="49" charset="0"/>
                <a:cs typeface="Courier New" pitchFamily="49" charset="0"/>
              </a:rPr>
              <a:t> AS INT),CAST(Score </a:t>
            </a:r>
          </a:p>
          <a:p>
            <a:pPr lvl="2">
              <a:buNone/>
            </a:pPr>
            <a:r>
              <a:rPr lang="en-US" sz="1600" dirty="0" smtClean="0">
                <a:solidFill>
                  <a:schemeClr val="tx1">
                    <a:lumMod val="65000"/>
                    <a:lumOff val="35000"/>
                  </a:schemeClr>
                </a:solidFill>
                <a:latin typeface="Courier New" pitchFamily="49" charset="0"/>
                <a:cs typeface="Courier New" pitchFamily="49" charset="0"/>
              </a:rPr>
              <a:t>AS INT),FROM_UNIXTIME(CAST(Time AS BIGINT)) FROM </a:t>
            </a:r>
          </a:p>
          <a:p>
            <a:pPr lvl="2">
              <a:buNone/>
            </a:pPr>
            <a:r>
              <a:rPr lang="en-US" sz="1600" dirty="0" err="1" smtClean="0">
                <a:solidFill>
                  <a:schemeClr val="tx1">
                    <a:lumMod val="65000"/>
                    <a:lumOff val="35000"/>
                  </a:schemeClr>
                </a:solidFill>
                <a:latin typeface="Courier New" pitchFamily="49" charset="0"/>
                <a:cs typeface="Courier New" pitchFamily="49" charset="0"/>
              </a:rPr>
              <a:t>amazon_food_review_table</a:t>
            </a:r>
            <a:r>
              <a:rPr lang="en-US" sz="1600" dirty="0" smtClean="0">
                <a:solidFill>
                  <a:schemeClr val="tx1">
                    <a:lumMod val="65000"/>
                    <a:lumOff val="35000"/>
                  </a:schemeClr>
                </a:solidFill>
                <a:latin typeface="Courier New" pitchFamily="49" charset="0"/>
                <a:cs typeface="Courier New" pitchFamily="49"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700" dirty="0" smtClean="0">
              <a:latin typeface="Arial" pitchFamily="34" charset="0"/>
              <a:cs typeface="Arial" pitchFamily="34" charset="0"/>
            </a:endParaRPr>
          </a:p>
          <a:p>
            <a:pPr>
              <a:buNone/>
            </a:pPr>
            <a:endParaRPr lang="en-US"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Arial Black" pitchFamily="34" charset="0"/>
              </a:rPr>
              <a:t>Data handling</a:t>
            </a:r>
            <a:r>
              <a:rPr lang="en-US" sz="2800" dirty="0" smtClean="0">
                <a:latin typeface="Arial Black" pitchFamily="34" charset="0"/>
              </a:rPr>
              <a:t> </a:t>
            </a:r>
            <a:r>
              <a:rPr lang="en-US" sz="2800" dirty="0" smtClean="0">
                <a:latin typeface="Arial Black" pitchFamily="34" charset="0"/>
              </a:rPr>
              <a:t>(contd.)</a:t>
            </a:r>
            <a:endParaRPr lang="en-US" dirty="0"/>
          </a:p>
        </p:txBody>
      </p:sp>
      <p:sp>
        <p:nvSpPr>
          <p:cNvPr id="3" name="Content Placeholder 2"/>
          <p:cNvSpPr>
            <a:spLocks noGrp="1"/>
          </p:cNvSpPr>
          <p:nvPr>
            <p:ph sz="quarter" idx="1"/>
          </p:nvPr>
        </p:nvSpPr>
        <p:spPr/>
        <p:txBody>
          <a:bodyPr>
            <a:normAutofit fontScale="92500" lnSpcReduction="10000"/>
          </a:bodyPr>
          <a:lstStyle/>
          <a:p>
            <a:pPr>
              <a:buNone/>
            </a:pPr>
            <a:r>
              <a:rPr lang="en-US" sz="1600" b="1" u="sng" dirty="0" smtClean="0">
                <a:solidFill>
                  <a:schemeClr val="tx1">
                    <a:lumMod val="65000"/>
                    <a:lumOff val="35000"/>
                  </a:schemeClr>
                </a:solidFill>
                <a:latin typeface="Arial" pitchFamily="34" charset="0"/>
                <a:cs typeface="Arial" pitchFamily="34" charset="0"/>
              </a:rPr>
              <a:t>STEP-7:</a:t>
            </a:r>
            <a:r>
              <a:rPr lang="en-US" sz="1600" dirty="0" smtClean="0">
                <a:solidFill>
                  <a:schemeClr val="tx1">
                    <a:lumMod val="65000"/>
                    <a:lumOff val="35000"/>
                  </a:schemeClr>
                </a:solidFill>
                <a:latin typeface="Arial" pitchFamily="34" charset="0"/>
                <a:cs typeface="Arial" pitchFamily="34" charset="0"/>
              </a:rPr>
              <a:t>  STEP-6 will cause typecasting as per the data set.</a:t>
            </a:r>
          </a:p>
          <a:p>
            <a:pPr>
              <a:buNone/>
            </a:pPr>
            <a:r>
              <a:rPr lang="en-US" sz="1600" dirty="0" smtClean="0">
                <a:solidFill>
                  <a:schemeClr val="tx1">
                    <a:lumMod val="65000"/>
                    <a:lumOff val="35000"/>
                  </a:schemeClr>
                </a:solidFill>
                <a:latin typeface="Courier New" pitchFamily="49" charset="0"/>
                <a:cs typeface="Courier New" pitchFamily="49" charset="0"/>
              </a:rPr>
              <a:t>		DESCRIBE </a:t>
            </a: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a:t>
            </a:r>
          </a:p>
          <a:p>
            <a:pPr lvl="3">
              <a:buNone/>
            </a:pPr>
            <a:r>
              <a:rPr lang="en-US" sz="1600" dirty="0" smtClean="0">
                <a:solidFill>
                  <a:schemeClr val="tx1">
                    <a:lumMod val="65000"/>
                    <a:lumOff val="35000"/>
                  </a:schemeClr>
                </a:solidFill>
                <a:latin typeface="Courier New" pitchFamily="49" charset="0"/>
                <a:cs typeface="Courier New" pitchFamily="49" charset="0"/>
              </a:rPr>
              <a:t>id                      </a:t>
            </a:r>
            <a:r>
              <a:rPr lang="en-US" sz="1600" dirty="0" err="1" smtClean="0">
                <a:solidFill>
                  <a:schemeClr val="tx1">
                    <a:lumMod val="65000"/>
                    <a:lumOff val="35000"/>
                  </a:schemeClr>
                </a:solidFill>
                <a:latin typeface="Courier New" pitchFamily="49" charset="0"/>
                <a:cs typeface="Courier New" pitchFamily="49" charset="0"/>
              </a:rPr>
              <a:t>int</a:t>
            </a:r>
            <a:r>
              <a:rPr lang="en-US" sz="1600" dirty="0" smtClean="0">
                <a:solidFill>
                  <a:schemeClr val="tx1">
                    <a:lumMod val="65000"/>
                    <a:lumOff val="35000"/>
                  </a:schemeClr>
                </a:solidFill>
                <a:latin typeface="Courier New" pitchFamily="49" charset="0"/>
                <a:cs typeface="Courier New" pitchFamily="49" charset="0"/>
              </a:rPr>
              <a:t>                                         </a:t>
            </a:r>
          </a:p>
          <a:p>
            <a:pPr lvl="3">
              <a:buNone/>
            </a:pP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string                                      </a:t>
            </a:r>
          </a:p>
          <a:p>
            <a:pPr lvl="3">
              <a:buNone/>
            </a:pPr>
            <a:r>
              <a:rPr lang="en-US" sz="1600" dirty="0" err="1" smtClean="0">
                <a:solidFill>
                  <a:schemeClr val="tx1">
                    <a:lumMod val="65000"/>
                    <a:lumOff val="35000"/>
                  </a:schemeClr>
                </a:solidFill>
                <a:latin typeface="Courier New" pitchFamily="49" charset="0"/>
                <a:cs typeface="Courier New" pitchFamily="49" charset="0"/>
              </a:rPr>
              <a:t>userid</a:t>
            </a:r>
            <a:r>
              <a:rPr lang="en-US" sz="1600" dirty="0" smtClean="0">
                <a:solidFill>
                  <a:schemeClr val="tx1">
                    <a:lumMod val="65000"/>
                    <a:lumOff val="35000"/>
                  </a:schemeClr>
                </a:solidFill>
                <a:latin typeface="Courier New" pitchFamily="49" charset="0"/>
                <a:cs typeface="Courier New" pitchFamily="49" charset="0"/>
              </a:rPr>
              <a:t>                  string                                      </a:t>
            </a:r>
          </a:p>
          <a:p>
            <a:pPr lvl="3">
              <a:buNone/>
            </a:pPr>
            <a:r>
              <a:rPr lang="en-US" sz="1600" dirty="0" err="1" smtClean="0">
                <a:solidFill>
                  <a:schemeClr val="tx1">
                    <a:lumMod val="65000"/>
                    <a:lumOff val="35000"/>
                  </a:schemeClr>
                </a:solidFill>
                <a:latin typeface="Courier New" pitchFamily="49" charset="0"/>
                <a:cs typeface="Courier New" pitchFamily="49" charset="0"/>
              </a:rPr>
              <a:t>helpfulnessnumerator</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int</a:t>
            </a:r>
            <a:r>
              <a:rPr lang="en-US" sz="1600" dirty="0" smtClean="0">
                <a:solidFill>
                  <a:schemeClr val="tx1">
                    <a:lumMod val="65000"/>
                    <a:lumOff val="35000"/>
                  </a:schemeClr>
                </a:solidFill>
                <a:latin typeface="Courier New" pitchFamily="49" charset="0"/>
                <a:cs typeface="Courier New" pitchFamily="49" charset="0"/>
              </a:rPr>
              <a:t>                                         </a:t>
            </a:r>
          </a:p>
          <a:p>
            <a:pPr lvl="3">
              <a:buNone/>
            </a:pPr>
            <a:r>
              <a:rPr lang="en-US" sz="1600" dirty="0" err="1" smtClean="0">
                <a:solidFill>
                  <a:schemeClr val="tx1">
                    <a:lumMod val="65000"/>
                    <a:lumOff val="35000"/>
                  </a:schemeClr>
                </a:solidFill>
                <a:latin typeface="Courier New" pitchFamily="49" charset="0"/>
                <a:cs typeface="Courier New" pitchFamily="49" charset="0"/>
              </a:rPr>
              <a:t>helpfulnessdenominator</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int</a:t>
            </a:r>
            <a:r>
              <a:rPr lang="en-US" sz="1600" dirty="0" smtClean="0">
                <a:solidFill>
                  <a:schemeClr val="tx1">
                    <a:lumMod val="65000"/>
                    <a:lumOff val="35000"/>
                  </a:schemeClr>
                </a:solidFill>
                <a:latin typeface="Courier New" pitchFamily="49" charset="0"/>
                <a:cs typeface="Courier New" pitchFamily="49" charset="0"/>
              </a:rPr>
              <a:t>                                         </a:t>
            </a:r>
          </a:p>
          <a:p>
            <a:pPr lvl="3">
              <a:buNone/>
            </a:pPr>
            <a:r>
              <a:rPr lang="en-US" sz="1600" dirty="0" smtClean="0">
                <a:solidFill>
                  <a:schemeClr val="tx1">
                    <a:lumMod val="65000"/>
                    <a:lumOff val="35000"/>
                  </a:schemeClr>
                </a:solidFill>
                <a:latin typeface="Courier New" pitchFamily="49" charset="0"/>
                <a:cs typeface="Courier New" pitchFamily="49" charset="0"/>
              </a:rPr>
              <a:t>score                   </a:t>
            </a:r>
            <a:r>
              <a:rPr lang="en-US" sz="1600" dirty="0" err="1" smtClean="0">
                <a:solidFill>
                  <a:schemeClr val="tx1">
                    <a:lumMod val="65000"/>
                    <a:lumOff val="35000"/>
                  </a:schemeClr>
                </a:solidFill>
                <a:latin typeface="Courier New" pitchFamily="49" charset="0"/>
                <a:cs typeface="Courier New" pitchFamily="49" charset="0"/>
              </a:rPr>
              <a:t>int</a:t>
            </a:r>
            <a:r>
              <a:rPr lang="en-US" sz="1600" dirty="0" smtClean="0">
                <a:solidFill>
                  <a:schemeClr val="tx1">
                    <a:lumMod val="65000"/>
                    <a:lumOff val="35000"/>
                  </a:schemeClr>
                </a:solidFill>
                <a:latin typeface="Courier New" pitchFamily="49" charset="0"/>
                <a:cs typeface="Courier New" pitchFamily="49" charset="0"/>
              </a:rPr>
              <a:t>                                         </a:t>
            </a:r>
          </a:p>
          <a:p>
            <a:pPr lvl="3">
              <a:buNone/>
            </a:pPr>
            <a:r>
              <a:rPr lang="en-US" sz="1600" dirty="0" smtClean="0">
                <a:solidFill>
                  <a:schemeClr val="tx1">
                    <a:lumMod val="65000"/>
                    <a:lumOff val="35000"/>
                  </a:schemeClr>
                </a:solidFill>
                <a:latin typeface="Courier New" pitchFamily="49" charset="0"/>
                <a:cs typeface="Courier New" pitchFamily="49" charset="0"/>
              </a:rPr>
              <a:t>time                    string</a:t>
            </a:r>
          </a:p>
          <a:p>
            <a:pPr lvl="3">
              <a:buNone/>
            </a:pPr>
            <a:endParaRPr lang="en-US" sz="1600" dirty="0" smtClean="0">
              <a:solidFill>
                <a:schemeClr val="tx1">
                  <a:lumMod val="65000"/>
                  <a:lumOff val="35000"/>
                </a:schemeClr>
              </a:solidFill>
              <a:latin typeface="Courier New" pitchFamily="49" charset="0"/>
              <a:cs typeface="Courier New" pitchFamily="49" charset="0"/>
            </a:endParaRPr>
          </a:p>
          <a:p>
            <a:pPr>
              <a:buNone/>
            </a:pPr>
            <a:r>
              <a:rPr lang="en-US" sz="1600" b="1" u="sng" dirty="0" smtClean="0">
                <a:solidFill>
                  <a:schemeClr val="tx1">
                    <a:lumMod val="65000"/>
                    <a:lumOff val="35000"/>
                  </a:schemeClr>
                </a:solidFill>
                <a:latin typeface="Arial" pitchFamily="34" charset="0"/>
                <a:cs typeface="Arial" pitchFamily="34" charset="0"/>
              </a:rPr>
              <a:t>STEP-8 :</a:t>
            </a:r>
            <a:r>
              <a:rPr lang="en-US" sz="1600" dirty="0" smtClean="0">
                <a:solidFill>
                  <a:schemeClr val="tx1">
                    <a:lumMod val="65000"/>
                    <a:lumOff val="35000"/>
                  </a:schemeClr>
                </a:solidFill>
                <a:latin typeface="Arial" pitchFamily="34" charset="0"/>
                <a:cs typeface="Arial" pitchFamily="34" charset="0"/>
              </a:rPr>
              <a:t>  Create a table to capture American Federal holidays.</a:t>
            </a:r>
          </a:p>
          <a:p>
            <a:pPr lvl="2">
              <a:buNone/>
            </a:pPr>
            <a:r>
              <a:rPr lang="en-US" sz="1600" dirty="0" smtClean="0">
                <a:solidFill>
                  <a:schemeClr val="tx1">
                    <a:lumMod val="65000"/>
                    <a:lumOff val="35000"/>
                  </a:schemeClr>
                </a:solidFill>
                <a:latin typeface="Courier New" pitchFamily="49" charset="0"/>
                <a:cs typeface="Courier New" pitchFamily="49" charset="0"/>
              </a:rPr>
              <a:t>	CREATE TABLE IF NOT EXISTS </a:t>
            </a:r>
            <a:r>
              <a:rPr lang="en-US" sz="1600" dirty="0" err="1" smtClean="0">
                <a:solidFill>
                  <a:schemeClr val="tx1">
                    <a:lumMod val="65000"/>
                    <a:lumOff val="35000"/>
                  </a:schemeClr>
                </a:solidFill>
                <a:latin typeface="Courier New" pitchFamily="49" charset="0"/>
                <a:cs typeface="Courier New" pitchFamily="49" charset="0"/>
              </a:rPr>
              <a:t>american_holidays</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holiday_name</a:t>
            </a:r>
            <a:r>
              <a:rPr lang="en-US" sz="1600" dirty="0" smtClean="0">
                <a:solidFill>
                  <a:schemeClr val="tx1">
                    <a:lumMod val="65000"/>
                    <a:lumOff val="35000"/>
                  </a:schemeClr>
                </a:solidFill>
                <a:latin typeface="Courier New" pitchFamily="49" charset="0"/>
                <a:cs typeface="Courier New" pitchFamily="49" charset="0"/>
              </a:rPr>
              <a:t> STRING, </a:t>
            </a:r>
            <a:r>
              <a:rPr lang="en-US" sz="1600" dirty="0" err="1" smtClean="0">
                <a:solidFill>
                  <a:schemeClr val="tx1">
                    <a:lumMod val="65000"/>
                    <a:lumOff val="35000"/>
                  </a:schemeClr>
                </a:solidFill>
                <a:latin typeface="Courier New" pitchFamily="49" charset="0"/>
                <a:cs typeface="Courier New" pitchFamily="49" charset="0"/>
              </a:rPr>
              <a:t>holiday_date</a:t>
            </a:r>
            <a:r>
              <a:rPr lang="en-US" sz="1600" dirty="0" smtClean="0">
                <a:solidFill>
                  <a:schemeClr val="tx1">
                    <a:lumMod val="65000"/>
                    <a:lumOff val="35000"/>
                  </a:schemeClr>
                </a:solidFill>
                <a:latin typeface="Courier New" pitchFamily="49" charset="0"/>
                <a:cs typeface="Courier New" pitchFamily="49" charset="0"/>
              </a:rPr>
              <a:t> STRING)</a:t>
            </a:r>
          </a:p>
          <a:p>
            <a:pPr lvl="2">
              <a:buNone/>
            </a:pPr>
            <a:r>
              <a:rPr lang="en-US" sz="1600" dirty="0" smtClean="0">
                <a:solidFill>
                  <a:schemeClr val="tx1">
                    <a:lumMod val="65000"/>
                    <a:lumOff val="35000"/>
                  </a:schemeClr>
                </a:solidFill>
                <a:latin typeface="Courier New" pitchFamily="49" charset="0"/>
                <a:cs typeface="Courier New" pitchFamily="49" charset="0"/>
              </a:rPr>
              <a:t>	ROW FORMAT DELIMITED</a:t>
            </a:r>
          </a:p>
          <a:p>
            <a:pPr lvl="2">
              <a:buNone/>
            </a:pPr>
            <a:r>
              <a:rPr lang="en-US" sz="1600" dirty="0" smtClean="0">
                <a:solidFill>
                  <a:schemeClr val="tx1">
                    <a:lumMod val="65000"/>
                    <a:lumOff val="35000"/>
                  </a:schemeClr>
                </a:solidFill>
                <a:latin typeface="Courier New" pitchFamily="49" charset="0"/>
                <a:cs typeface="Courier New" pitchFamily="49" charset="0"/>
              </a:rPr>
              <a:t>	FIELDS TERMINATED BY ':';</a:t>
            </a: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3">
              <a:buNone/>
            </a:pPr>
            <a:r>
              <a:rPr lang="en-US" sz="1600" dirty="0" smtClean="0">
                <a:solidFill>
                  <a:schemeClr val="tx1">
                    <a:lumMod val="65000"/>
                    <a:lumOff val="35000"/>
                  </a:schemeClr>
                </a:solidFill>
                <a:latin typeface="Courier New" pitchFamily="49" charset="0"/>
                <a:cs typeface="Courier New" pitchFamily="49" charset="0"/>
              </a:rPr>
              <a:t>LOAD DATA INPATH </a:t>
            </a:r>
          </a:p>
          <a:p>
            <a:pPr lvl="3">
              <a:buNone/>
            </a:pPr>
            <a:r>
              <a:rPr lang="en-US" sz="1600" dirty="0" smtClean="0">
                <a:solidFill>
                  <a:schemeClr val="tx1">
                    <a:lumMod val="65000"/>
                    <a:lumOff val="35000"/>
                  </a:schemeClr>
                </a:solidFill>
                <a:latin typeface="Courier New" pitchFamily="49" charset="0"/>
                <a:cs typeface="Courier New" pitchFamily="49" charset="0"/>
              </a:rPr>
              <a:t>'</a:t>
            </a:r>
            <a:r>
              <a:rPr lang="en-US" sz="1600" dirty="0" err="1" smtClean="0">
                <a:solidFill>
                  <a:schemeClr val="tx1">
                    <a:lumMod val="65000"/>
                    <a:lumOff val="35000"/>
                  </a:schemeClr>
                </a:solidFill>
                <a:latin typeface="Courier New" pitchFamily="49" charset="0"/>
                <a:cs typeface="Courier New" pitchFamily="49" charset="0"/>
              </a:rPr>
              <a:t>sb_amazon_food_reviews</a:t>
            </a:r>
            <a:r>
              <a:rPr lang="en-US" sz="1600" dirty="0" smtClean="0">
                <a:solidFill>
                  <a:schemeClr val="tx1">
                    <a:lumMod val="65000"/>
                    <a:lumOff val="35000"/>
                  </a:schemeClr>
                </a:solidFill>
                <a:latin typeface="Courier New" pitchFamily="49" charset="0"/>
                <a:cs typeface="Courier New" pitchFamily="49" charset="0"/>
              </a:rPr>
              <a:t>/american_holiday_list.txt' </a:t>
            </a:r>
          </a:p>
          <a:p>
            <a:pPr lvl="3">
              <a:buNone/>
            </a:pPr>
            <a:r>
              <a:rPr lang="en-US" sz="1600" dirty="0" smtClean="0">
                <a:solidFill>
                  <a:schemeClr val="tx1">
                    <a:lumMod val="65000"/>
                    <a:lumOff val="35000"/>
                  </a:schemeClr>
                </a:solidFill>
                <a:latin typeface="Courier New" pitchFamily="49" charset="0"/>
                <a:cs typeface="Courier New" pitchFamily="49" charset="0"/>
              </a:rPr>
              <a:t>OVERWRITE INTO TABLE </a:t>
            </a:r>
            <a:r>
              <a:rPr lang="en-US" sz="1600" dirty="0" err="1" smtClean="0">
                <a:solidFill>
                  <a:schemeClr val="tx1">
                    <a:lumMod val="65000"/>
                    <a:lumOff val="35000"/>
                  </a:schemeClr>
                </a:solidFill>
                <a:latin typeface="Courier New" pitchFamily="49" charset="0"/>
                <a:cs typeface="Courier New" pitchFamily="49" charset="0"/>
              </a:rPr>
              <a:t>american_holidays</a:t>
            </a:r>
            <a:r>
              <a:rPr lang="en-US" sz="1600" dirty="0" smtClean="0">
                <a:solidFill>
                  <a:schemeClr val="tx1">
                    <a:lumMod val="65000"/>
                    <a:lumOff val="35000"/>
                  </a:schemeClr>
                </a:solidFill>
                <a:latin typeface="Courier New" pitchFamily="49" charset="0"/>
                <a:cs typeface="Courier New" pitchFamily="49" charset="0"/>
              </a:rPr>
              <a:t>;</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dirty="0" smtClean="0">
              <a:latin typeface="Arial" pitchFamily="34" charset="0"/>
              <a:cs typeface="Arial" pitchFamily="34" charset="0"/>
            </a:endParaRPr>
          </a:p>
          <a:p>
            <a:pPr>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a:t>
            </a:r>
            <a:endParaRPr lang="en-US" sz="2800" dirty="0"/>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200" dirty="0" smtClean="0">
                <a:solidFill>
                  <a:schemeClr val="tx1">
                    <a:lumMod val="65000"/>
                    <a:lumOff val="35000"/>
                  </a:schemeClr>
                </a:solidFill>
                <a:latin typeface="Arial" pitchFamily="34" charset="0"/>
                <a:cs typeface="Arial" pitchFamily="34" charset="0"/>
              </a:rPr>
              <a:t>Which are the top 10 Product IDs that get reviewed the most?</a:t>
            </a:r>
          </a:p>
          <a:p>
            <a:pPr>
              <a:buNone/>
            </a:pPr>
            <a:endParaRPr lang="en-US" dirty="0" smtClean="0">
              <a:solidFill>
                <a:schemeClr val="tx1">
                  <a:lumMod val="65000"/>
                  <a:lumOff val="35000"/>
                </a:schemeClr>
              </a:solidFill>
            </a:endParaRPr>
          </a:p>
          <a:p>
            <a:pPr>
              <a:buNone/>
            </a:pPr>
            <a:r>
              <a:rPr lang="en-US" sz="2000" b="1" u="sng" dirty="0" smtClean="0">
                <a:solidFill>
                  <a:schemeClr val="tx1">
                    <a:lumMod val="65000"/>
                    <a:lumOff val="35000"/>
                  </a:schemeClr>
                </a:solidFill>
                <a:latin typeface="Arial" pitchFamily="34" charset="0"/>
                <a:cs typeface="Arial" pitchFamily="34" charset="0"/>
              </a:rPr>
              <a:t>Query:</a:t>
            </a:r>
          </a:p>
          <a:p>
            <a:pPr>
              <a:buNone/>
            </a:pPr>
            <a:endParaRPr lang="en-US" sz="2000" dirty="0" smtClean="0">
              <a:solidFill>
                <a:schemeClr val="tx1">
                  <a:lumMod val="65000"/>
                  <a:lumOff val="35000"/>
                </a:schemeClr>
              </a:solidFill>
              <a:latin typeface="Arial" pitchFamily="34" charset="0"/>
              <a:cs typeface="Arial" pitchFamily="34"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INSERT OVERWRITE DIRECTORY</a:t>
            </a:r>
          </a:p>
          <a:p>
            <a:pPr lvl="1">
              <a:buNone/>
            </a:pPr>
            <a:r>
              <a:rPr lang="en-US" sz="1600" dirty="0" smtClean="0">
                <a:solidFill>
                  <a:schemeClr val="tx1">
                    <a:lumMod val="65000"/>
                    <a:lumOff val="35000"/>
                  </a:schemeClr>
                </a:solidFill>
                <a:latin typeface="Courier New" pitchFamily="49" charset="0"/>
                <a:cs typeface="Courier New" pitchFamily="49" charset="0"/>
              </a:rPr>
              <a:t>'/apps/hive/warehouse/</a:t>
            </a:r>
            <a:r>
              <a:rPr lang="en-US" sz="1600" dirty="0" err="1" smtClean="0">
                <a:solidFill>
                  <a:schemeClr val="tx1">
                    <a:lumMod val="65000"/>
                    <a:lumOff val="35000"/>
                  </a:schemeClr>
                </a:solidFill>
                <a:latin typeface="Courier New" pitchFamily="49" charset="0"/>
                <a:cs typeface="Courier New" pitchFamily="49" charset="0"/>
              </a:rPr>
              <a:t>sb_amazon_food_review_db.db</a:t>
            </a:r>
            <a:r>
              <a:rPr lang="en-US" sz="1600" dirty="0" smtClean="0">
                <a:solidFill>
                  <a:schemeClr val="tx1">
                    <a:lumMod val="65000"/>
                    <a:lumOff val="35000"/>
                  </a:schemeClr>
                </a:solidFill>
                <a:latin typeface="Courier New" pitchFamily="49" charset="0"/>
                <a:cs typeface="Courier New" pitchFamily="49" charset="0"/>
              </a:rPr>
              <a:t>/CASE1'</a:t>
            </a:r>
          </a:p>
          <a:p>
            <a:pPr lvl="1">
              <a:buNone/>
            </a:pPr>
            <a:r>
              <a:rPr lang="en-US" sz="1600" dirty="0" smtClean="0">
                <a:solidFill>
                  <a:schemeClr val="tx1">
                    <a:lumMod val="65000"/>
                    <a:lumOff val="35000"/>
                  </a:schemeClr>
                </a:solidFill>
                <a:latin typeface="Courier New" pitchFamily="49" charset="0"/>
                <a:cs typeface="Courier New" pitchFamily="49" charset="0"/>
              </a:rPr>
              <a:t>SELECT </a:t>
            </a:r>
            <a:r>
              <a:rPr lang="en-US" sz="1600" dirty="0" err="1" smtClean="0">
                <a:solidFill>
                  <a:schemeClr val="tx1">
                    <a:lumMod val="65000"/>
                    <a:lumOff val="35000"/>
                  </a:schemeClr>
                </a:solidFill>
                <a:latin typeface="Courier New" pitchFamily="49" charset="0"/>
                <a:cs typeface="Courier New" pitchFamily="49" charset="0"/>
              </a:rPr>
              <a:t>ProductId,count</a:t>
            </a:r>
            <a:r>
              <a:rPr lang="en-US" sz="1600" dirty="0" smtClean="0">
                <a:solidFill>
                  <a:schemeClr val="tx1">
                    <a:lumMod val="65000"/>
                    <a:lumOff val="35000"/>
                  </a:schemeClr>
                </a:solidFill>
                <a:latin typeface="Courier New" pitchFamily="49" charset="0"/>
                <a:cs typeface="Courier New" pitchFamily="49" charset="0"/>
              </a:rPr>
              <a:t>(*) as </a:t>
            </a:r>
            <a:r>
              <a:rPr lang="en-US" sz="1600" dirty="0" err="1" smtClean="0">
                <a:solidFill>
                  <a:schemeClr val="tx1">
                    <a:lumMod val="65000"/>
                    <a:lumOff val="35000"/>
                  </a:schemeClr>
                </a:solidFill>
                <a:latin typeface="Courier New" pitchFamily="49" charset="0"/>
                <a:cs typeface="Courier New" pitchFamily="49" charset="0"/>
              </a:rPr>
              <a:t>review_count</a:t>
            </a:r>
            <a:r>
              <a:rPr lang="en-US" sz="1600" dirty="0" smtClean="0">
                <a:solidFill>
                  <a:schemeClr val="tx1">
                    <a:lumMod val="65000"/>
                    <a:lumOff val="35000"/>
                  </a:schemeClr>
                </a:solidFill>
                <a:latin typeface="Courier New" pitchFamily="49" charset="0"/>
                <a:cs typeface="Courier New" pitchFamily="49" charset="0"/>
              </a:rPr>
              <a:t> FROM</a:t>
            </a:r>
          </a:p>
          <a:p>
            <a:pPr lvl="1">
              <a:buNone/>
            </a:pP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 WHERE </a:t>
            </a: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IS NOT NULL GROUP</a:t>
            </a:r>
          </a:p>
          <a:p>
            <a:pPr lvl="1">
              <a:buNone/>
            </a:pPr>
            <a:r>
              <a:rPr lang="en-US" sz="1600" dirty="0" smtClean="0">
                <a:solidFill>
                  <a:schemeClr val="tx1">
                    <a:lumMod val="65000"/>
                    <a:lumOff val="35000"/>
                  </a:schemeClr>
                </a:solidFill>
                <a:latin typeface="Courier New" pitchFamily="49" charset="0"/>
                <a:cs typeface="Courier New" pitchFamily="49" charset="0"/>
              </a:rPr>
              <a:t>BY </a:t>
            </a: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ORDER BY </a:t>
            </a:r>
            <a:r>
              <a:rPr lang="en-US" sz="1600" dirty="0" err="1" smtClean="0">
                <a:solidFill>
                  <a:schemeClr val="tx1">
                    <a:lumMod val="65000"/>
                    <a:lumOff val="35000"/>
                  </a:schemeClr>
                </a:solidFill>
                <a:latin typeface="Courier New" pitchFamily="49" charset="0"/>
                <a:cs typeface="Courier New" pitchFamily="49" charset="0"/>
              </a:rPr>
              <a:t>review_count</a:t>
            </a:r>
            <a:r>
              <a:rPr lang="en-US" sz="1600" dirty="0" smtClean="0">
                <a:solidFill>
                  <a:schemeClr val="tx1">
                    <a:lumMod val="65000"/>
                    <a:lumOff val="35000"/>
                  </a:schemeClr>
                </a:solidFill>
                <a:latin typeface="Courier New" pitchFamily="49" charset="0"/>
                <a:cs typeface="Courier New" pitchFamily="49" charset="0"/>
              </a:rPr>
              <a:t> DESC LIMIT 10;</a:t>
            </a:r>
          </a:p>
          <a:p>
            <a:pPr lvl="1">
              <a:buNone/>
            </a:pPr>
            <a:endParaRPr lang="en-US" sz="1600" dirty="0" smtClean="0">
              <a:solidFill>
                <a:schemeClr val="tx1">
                  <a:lumMod val="75000"/>
                  <a:lumOff val="25000"/>
                </a:schemeClr>
              </a:solidFill>
              <a:latin typeface="Courier New" pitchFamily="49" charset="0"/>
              <a:cs typeface="Courier New" pitchFamily="49" charset="0"/>
            </a:endParaRPr>
          </a:p>
          <a:p>
            <a:pPr lvl="1">
              <a:buNone/>
            </a:pPr>
            <a:endParaRPr lang="en-US" sz="1600" dirty="0" smtClean="0">
              <a:solidFill>
                <a:schemeClr val="tx1">
                  <a:lumMod val="75000"/>
                  <a:lumOff val="25000"/>
                </a:schemeClr>
              </a:solidFill>
              <a:latin typeface="Courier New" pitchFamily="49" charset="0"/>
              <a:cs typeface="Courier New" pitchFamily="49" charset="0"/>
            </a:endParaRPr>
          </a:p>
          <a:p>
            <a:pPr lvl="1">
              <a:buNone/>
            </a:pPr>
            <a:r>
              <a:rPr lang="en-US" sz="1600" dirty="0" smtClean="0">
                <a:solidFill>
                  <a:schemeClr val="tx1">
                    <a:lumMod val="75000"/>
                    <a:lumOff val="25000"/>
                  </a:schemeClr>
                </a:solidFill>
                <a:latin typeface="Arial" pitchFamily="34" charset="0"/>
                <a:cs typeface="Arial" pitchFamily="34" charset="0"/>
              </a:rPr>
              <a:t> </a:t>
            </a:r>
          </a:p>
          <a:p>
            <a:pPr lvl="1">
              <a:buNone/>
            </a:pPr>
            <a:endParaRPr lang="en-US" sz="1600" dirty="0" smtClean="0">
              <a:solidFill>
                <a:schemeClr val="tx1">
                  <a:lumMod val="75000"/>
                  <a:lumOff val="25000"/>
                </a:schemeClr>
              </a:solidFill>
              <a:latin typeface="Courier New" pitchFamily="49" charset="0"/>
              <a:cs typeface="Courier New" pitchFamily="49" charset="0"/>
            </a:endParaRPr>
          </a:p>
          <a:p>
            <a:pPr>
              <a:buNone/>
            </a:pPr>
            <a:endParaRPr lang="en-US" sz="1900" dirty="0" smtClean="0">
              <a:solidFill>
                <a:schemeClr val="tx1">
                  <a:lumMod val="75000"/>
                  <a:lumOff val="25000"/>
                </a:schemeClr>
              </a:solidFill>
              <a:latin typeface="Arial" pitchFamily="34" charset="0"/>
              <a:cs typeface="Arial" pitchFamily="34" charset="0"/>
            </a:endParaRPr>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a:bodyPr>
          <a:lstStyle/>
          <a:p>
            <a:pPr lvl="0">
              <a:buClr>
                <a:srgbClr val="FE8637"/>
              </a:buClr>
              <a:buNone/>
            </a:pPr>
            <a:r>
              <a:rPr lang="en-US" sz="2000" b="1" u="sng" dirty="0" smtClean="0">
                <a:solidFill>
                  <a:schemeClr val="tx1">
                    <a:lumMod val="65000"/>
                    <a:lumOff val="35000"/>
                  </a:schemeClr>
                </a:solidFill>
                <a:latin typeface="Arial" pitchFamily="34" charset="0"/>
                <a:cs typeface="Arial" pitchFamily="34" charset="0"/>
              </a:rPr>
              <a:t>RESULT:</a:t>
            </a:r>
            <a:r>
              <a:rPr lang="en-US" dirty="0" smtClean="0">
                <a:solidFill>
                  <a:schemeClr val="tx1">
                    <a:lumMod val="65000"/>
                    <a:lumOff val="35000"/>
                  </a:schemeClr>
                </a:solidFill>
                <a:latin typeface="Arial" pitchFamily="34" charset="0"/>
                <a:cs typeface="Arial" pitchFamily="34" charset="0"/>
              </a:rPr>
              <a:t>  </a:t>
            </a:r>
          </a:p>
          <a:p>
            <a:pPr lvl="0">
              <a:buClr>
                <a:srgbClr val="FE8637"/>
              </a:buClr>
              <a:buNone/>
            </a:pPr>
            <a:endParaRPr lang="en-US" dirty="0" smtClean="0">
              <a:solidFill>
                <a:schemeClr val="tx1">
                  <a:lumMod val="65000"/>
                  <a:lumOff val="35000"/>
                </a:schemeClr>
              </a:solidFill>
              <a:latin typeface="Arial" pitchFamily="34" charset="0"/>
              <a:cs typeface="Arial" pitchFamily="34" charset="0"/>
            </a:endParaRP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B007JFMH8M      913</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B002QWP8H0      632</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B0026RQTGE      632</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B002QWP89S      632</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B002QWHJOU      632</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B003B3OOPA      623</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B001EO5Q64      567</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B007M83302      564</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B0026KPDG8      564</a:t>
            </a:r>
          </a:p>
          <a:p>
            <a:pPr lvl="0">
              <a:buClr>
                <a:srgbClr val="FE8637"/>
              </a:buClr>
              <a:buNone/>
            </a:pPr>
            <a:r>
              <a:rPr lang="en-US" sz="1600" dirty="0" smtClean="0">
                <a:solidFill>
                  <a:schemeClr val="tx1">
                    <a:lumMod val="65000"/>
                    <a:lumOff val="35000"/>
                  </a:schemeClr>
                </a:solidFill>
                <a:latin typeface="Courier New" pitchFamily="49" charset="0"/>
                <a:cs typeface="Courier New" pitchFamily="49" charset="0"/>
              </a:rPr>
              <a:t>B000VK8AVK      564</a:t>
            </a:r>
          </a:p>
          <a:p>
            <a:pPr>
              <a:buNone/>
            </a:pPr>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dirty="0" smtClean="0">
                <a:solidFill>
                  <a:schemeClr val="tx1">
                    <a:lumMod val="65000"/>
                    <a:lumOff val="35000"/>
                  </a:schemeClr>
                </a:solidFill>
                <a:latin typeface="Arial" pitchFamily="34" charset="0"/>
                <a:cs typeface="Arial" pitchFamily="34" charset="0"/>
              </a:rPr>
              <a:t>Which are the top 10 most favorably reviewed Product IDs?</a:t>
            </a:r>
          </a:p>
          <a:p>
            <a:endParaRPr lang="en-US" sz="2000" dirty="0" smtClean="0">
              <a:solidFill>
                <a:schemeClr val="tx1">
                  <a:lumMod val="65000"/>
                  <a:lumOff val="35000"/>
                </a:schemeClr>
              </a:solidFill>
              <a:latin typeface="Arial" pitchFamily="34" charset="0"/>
              <a:cs typeface="Arial" pitchFamily="34" charset="0"/>
            </a:endParaRPr>
          </a:p>
          <a:p>
            <a:pPr>
              <a:buNone/>
            </a:pPr>
            <a:r>
              <a:rPr lang="en-US" sz="2000" b="1" u="sng" dirty="0" smtClean="0">
                <a:solidFill>
                  <a:schemeClr val="tx1">
                    <a:lumMod val="65000"/>
                    <a:lumOff val="35000"/>
                  </a:schemeClr>
                </a:solidFill>
                <a:latin typeface="Arial" pitchFamily="34" charset="0"/>
                <a:cs typeface="Arial" pitchFamily="34" charset="0"/>
              </a:rPr>
              <a:t>Query </a:t>
            </a:r>
            <a:r>
              <a:rPr lang="en-US" sz="2000" dirty="0" smtClean="0">
                <a:solidFill>
                  <a:schemeClr val="tx1">
                    <a:lumMod val="65000"/>
                    <a:lumOff val="35000"/>
                  </a:schemeClr>
                </a:solidFill>
                <a:latin typeface="Arial" pitchFamily="34" charset="0"/>
                <a:cs typeface="Arial" pitchFamily="34" charset="0"/>
              </a:rPr>
              <a:t>:</a:t>
            </a:r>
          </a:p>
          <a:p>
            <a:pPr>
              <a:buNone/>
            </a:pPr>
            <a:endParaRPr lang="en-US" sz="2000" dirty="0" smtClean="0">
              <a:solidFill>
                <a:schemeClr val="tx1">
                  <a:lumMod val="65000"/>
                  <a:lumOff val="35000"/>
                </a:schemeClr>
              </a:solidFill>
              <a:latin typeface="Arial" pitchFamily="34" charset="0"/>
              <a:cs typeface="Arial" pitchFamily="34" charset="0"/>
            </a:endParaRPr>
          </a:p>
          <a:p>
            <a:pPr>
              <a:buNone/>
            </a:pPr>
            <a:r>
              <a:rPr lang="en-US" sz="1600" dirty="0" smtClean="0">
                <a:solidFill>
                  <a:schemeClr val="tx1">
                    <a:lumMod val="65000"/>
                    <a:lumOff val="35000"/>
                  </a:schemeClr>
                </a:solidFill>
                <a:latin typeface="Courier New" pitchFamily="49" charset="0"/>
                <a:cs typeface="Courier New" pitchFamily="49" charset="0"/>
              </a:rPr>
              <a:t>	INSERT OVERWRITE DIRECTORY '/apps/hive/warehouse/</a:t>
            </a:r>
            <a:r>
              <a:rPr lang="en-US" sz="1600" dirty="0" err="1" smtClean="0">
                <a:solidFill>
                  <a:schemeClr val="tx1">
                    <a:lumMod val="65000"/>
                    <a:lumOff val="35000"/>
                  </a:schemeClr>
                </a:solidFill>
                <a:latin typeface="Courier New" pitchFamily="49" charset="0"/>
                <a:cs typeface="Courier New" pitchFamily="49" charset="0"/>
              </a:rPr>
              <a:t>sb_amazon_food_review_db.db</a:t>
            </a:r>
            <a:r>
              <a:rPr lang="en-US" sz="1600" dirty="0" smtClean="0">
                <a:solidFill>
                  <a:schemeClr val="tx1">
                    <a:lumMod val="65000"/>
                    <a:lumOff val="35000"/>
                  </a:schemeClr>
                </a:solidFill>
                <a:latin typeface="Courier New" pitchFamily="49" charset="0"/>
                <a:cs typeface="Courier New" pitchFamily="49" charset="0"/>
              </a:rPr>
              <a:t>/CASE2'</a:t>
            </a:r>
          </a:p>
          <a:p>
            <a:pPr>
              <a:buNone/>
            </a:pPr>
            <a:r>
              <a:rPr lang="en-US" sz="1600" dirty="0" smtClean="0">
                <a:solidFill>
                  <a:schemeClr val="tx1">
                    <a:lumMod val="65000"/>
                    <a:lumOff val="35000"/>
                  </a:schemeClr>
                </a:solidFill>
                <a:latin typeface="Courier New" pitchFamily="49" charset="0"/>
                <a:cs typeface="Courier New" pitchFamily="49" charset="0"/>
              </a:rPr>
              <a:t>	SELECT </a:t>
            </a:r>
            <a:r>
              <a:rPr lang="en-US" sz="1600" dirty="0" err="1" smtClean="0">
                <a:solidFill>
                  <a:schemeClr val="tx1">
                    <a:lumMod val="65000"/>
                    <a:lumOff val="35000"/>
                  </a:schemeClr>
                </a:solidFill>
                <a:latin typeface="Courier New" pitchFamily="49" charset="0"/>
                <a:cs typeface="Courier New" pitchFamily="49" charset="0"/>
              </a:rPr>
              <a:t>ProductId,count</a:t>
            </a:r>
            <a:r>
              <a:rPr lang="en-US" sz="1600" dirty="0" smtClean="0">
                <a:solidFill>
                  <a:schemeClr val="tx1">
                    <a:lumMod val="65000"/>
                    <a:lumOff val="35000"/>
                  </a:schemeClr>
                </a:solidFill>
                <a:latin typeface="Courier New" pitchFamily="49" charset="0"/>
                <a:cs typeface="Courier New" pitchFamily="49" charset="0"/>
              </a:rPr>
              <a:t>(*) as </a:t>
            </a:r>
            <a:r>
              <a:rPr lang="en-US" sz="1600" dirty="0" err="1" smtClean="0">
                <a:solidFill>
                  <a:schemeClr val="tx1">
                    <a:lumMod val="65000"/>
                    <a:lumOff val="35000"/>
                  </a:schemeClr>
                </a:solidFill>
                <a:latin typeface="Courier New" pitchFamily="49" charset="0"/>
                <a:cs typeface="Courier New" pitchFamily="49" charset="0"/>
              </a:rPr>
              <a:t>score_count</a:t>
            </a:r>
            <a:r>
              <a:rPr lang="en-US" sz="1600" dirty="0" smtClean="0">
                <a:solidFill>
                  <a:schemeClr val="tx1">
                    <a:lumMod val="65000"/>
                    <a:lumOff val="35000"/>
                  </a:schemeClr>
                </a:solidFill>
                <a:latin typeface="Courier New" pitchFamily="49" charset="0"/>
                <a:cs typeface="Courier New" pitchFamily="49" charset="0"/>
              </a:rPr>
              <a:t> FROM </a:t>
            </a: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 </a:t>
            </a:r>
          </a:p>
          <a:p>
            <a:pPr>
              <a:buNone/>
            </a:pPr>
            <a:r>
              <a:rPr lang="en-US" sz="1600" dirty="0" smtClean="0">
                <a:solidFill>
                  <a:schemeClr val="tx1">
                    <a:lumMod val="65000"/>
                    <a:lumOff val="35000"/>
                  </a:schemeClr>
                </a:solidFill>
                <a:latin typeface="Courier New" pitchFamily="49" charset="0"/>
                <a:cs typeface="Courier New" pitchFamily="49" charset="0"/>
              </a:rPr>
              <a:t>	WHERE </a:t>
            </a: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IS NOT NULL</a:t>
            </a:r>
          </a:p>
          <a:p>
            <a:pPr>
              <a:buNone/>
            </a:pPr>
            <a:r>
              <a:rPr lang="en-US" sz="1600" dirty="0" smtClean="0">
                <a:solidFill>
                  <a:schemeClr val="tx1">
                    <a:lumMod val="65000"/>
                    <a:lumOff val="35000"/>
                  </a:schemeClr>
                </a:solidFill>
                <a:latin typeface="Courier New" pitchFamily="49" charset="0"/>
                <a:cs typeface="Courier New" pitchFamily="49" charset="0"/>
              </a:rPr>
              <a:t>	AND Score = 5</a:t>
            </a:r>
          </a:p>
          <a:p>
            <a:pPr>
              <a:buNone/>
            </a:pPr>
            <a:r>
              <a:rPr lang="en-US" sz="1600" dirty="0" smtClean="0">
                <a:solidFill>
                  <a:schemeClr val="tx1">
                    <a:lumMod val="65000"/>
                    <a:lumOff val="35000"/>
                  </a:schemeClr>
                </a:solidFill>
                <a:latin typeface="Courier New" pitchFamily="49" charset="0"/>
                <a:cs typeface="Courier New" pitchFamily="49" charset="0"/>
              </a:rPr>
              <a:t>	GROUP BY </a:t>
            </a: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a:t>
            </a:r>
          </a:p>
          <a:p>
            <a:pPr>
              <a:buNone/>
            </a:pPr>
            <a:r>
              <a:rPr lang="en-US" sz="1600" dirty="0" smtClean="0">
                <a:solidFill>
                  <a:schemeClr val="tx1">
                    <a:lumMod val="65000"/>
                    <a:lumOff val="35000"/>
                  </a:schemeClr>
                </a:solidFill>
                <a:latin typeface="Courier New" pitchFamily="49" charset="0"/>
                <a:cs typeface="Courier New" pitchFamily="49" charset="0"/>
              </a:rPr>
              <a:t>	ORDER BY </a:t>
            </a:r>
            <a:r>
              <a:rPr lang="en-US" sz="1600" dirty="0" err="1" smtClean="0">
                <a:solidFill>
                  <a:schemeClr val="tx1">
                    <a:lumMod val="65000"/>
                    <a:lumOff val="35000"/>
                  </a:schemeClr>
                </a:solidFill>
                <a:latin typeface="Courier New" pitchFamily="49" charset="0"/>
                <a:cs typeface="Courier New" pitchFamily="49" charset="0"/>
              </a:rPr>
              <a:t>score_count</a:t>
            </a:r>
            <a:r>
              <a:rPr lang="en-US" sz="1600" dirty="0" smtClean="0">
                <a:solidFill>
                  <a:schemeClr val="tx1">
                    <a:lumMod val="65000"/>
                    <a:lumOff val="35000"/>
                  </a:schemeClr>
                </a:solidFill>
                <a:latin typeface="Courier New" pitchFamily="49" charset="0"/>
                <a:cs typeface="Courier New" pitchFamily="49" charset="0"/>
              </a:rPr>
              <a:t> DESC</a:t>
            </a:r>
          </a:p>
          <a:p>
            <a:pPr>
              <a:buNone/>
            </a:pPr>
            <a:r>
              <a:rPr lang="en-US" sz="1600" dirty="0" smtClean="0">
                <a:solidFill>
                  <a:schemeClr val="tx1">
                    <a:lumMod val="65000"/>
                    <a:lumOff val="35000"/>
                  </a:schemeClr>
                </a:solidFill>
                <a:latin typeface="Courier New" pitchFamily="49" charset="0"/>
                <a:cs typeface="Courier New" pitchFamily="49" charset="0"/>
              </a:rPr>
              <a:t>	LIMIT 10;</a:t>
            </a:r>
          </a:p>
          <a:p>
            <a:pPr>
              <a:buNone/>
            </a:pPr>
            <a:endParaRPr lang="en-US" sz="2000" dirty="0" smtClean="0">
              <a:solidFill>
                <a:schemeClr val="tx1">
                  <a:lumMod val="75000"/>
                  <a:lumOff val="25000"/>
                </a:schemeClr>
              </a:solidFill>
              <a:latin typeface="Arial" pitchFamily="34" charset="0"/>
              <a:cs typeface="Arial" pitchFamily="34" charset="0"/>
            </a:endParaRPr>
          </a:p>
          <a:p>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a:bodyPr>
          <a:lstStyle/>
          <a:p>
            <a:pPr>
              <a:buNone/>
            </a:pPr>
            <a:endParaRPr lang="en-US" sz="2000" b="1" u="sng" dirty="0" smtClean="0">
              <a:solidFill>
                <a:schemeClr val="tx1">
                  <a:lumMod val="75000"/>
                  <a:lumOff val="25000"/>
                </a:schemeClr>
              </a:solidFill>
              <a:latin typeface="Arial" pitchFamily="34" charset="0"/>
              <a:cs typeface="Arial" pitchFamily="34" charset="0"/>
            </a:endParaRPr>
          </a:p>
          <a:p>
            <a:pPr>
              <a:buNone/>
            </a:pPr>
            <a:r>
              <a:rPr lang="en-US" sz="2000" b="1" u="sng" dirty="0" smtClean="0">
                <a:solidFill>
                  <a:schemeClr val="tx1">
                    <a:lumMod val="65000"/>
                    <a:lumOff val="35000"/>
                  </a:schemeClr>
                </a:solidFill>
                <a:latin typeface="Arial" pitchFamily="34" charset="0"/>
                <a:cs typeface="Arial" pitchFamily="34" charset="0"/>
              </a:rPr>
              <a:t>RESULT:</a:t>
            </a:r>
          </a:p>
          <a:p>
            <a:pPr>
              <a:buNone/>
            </a:pPr>
            <a:endParaRPr lang="en-US" sz="1600" b="1" u="sng" dirty="0" smtClean="0">
              <a:solidFill>
                <a:schemeClr val="tx1">
                  <a:lumMod val="65000"/>
                  <a:lumOff val="35000"/>
                </a:schemeClr>
              </a:solidFill>
              <a:latin typeface="Arial" pitchFamily="34" charset="0"/>
              <a:cs typeface="Arial" pitchFamily="34" charset="0"/>
            </a:endParaRPr>
          </a:p>
          <a:p>
            <a:pPr>
              <a:buNone/>
            </a:pPr>
            <a:r>
              <a:rPr lang="en-US" sz="1600" dirty="0" smtClean="0">
                <a:solidFill>
                  <a:schemeClr val="tx1">
                    <a:lumMod val="65000"/>
                    <a:lumOff val="35000"/>
                  </a:schemeClr>
                </a:solidFill>
                <a:latin typeface="Courier New" pitchFamily="49" charset="0"/>
                <a:cs typeface="Courier New" pitchFamily="49" charset="0"/>
              </a:rPr>
              <a:t>B007JFMH8M      624</a:t>
            </a:r>
          </a:p>
          <a:p>
            <a:pPr>
              <a:buNone/>
            </a:pPr>
            <a:r>
              <a:rPr lang="en-US" sz="1600" dirty="0" smtClean="0">
                <a:solidFill>
                  <a:schemeClr val="tx1">
                    <a:lumMod val="65000"/>
                    <a:lumOff val="35000"/>
                  </a:schemeClr>
                </a:solidFill>
                <a:latin typeface="Courier New" pitchFamily="49" charset="0"/>
                <a:cs typeface="Courier New" pitchFamily="49" charset="0"/>
              </a:rPr>
              <a:t>B003B3OOPA      517</a:t>
            </a:r>
          </a:p>
          <a:p>
            <a:pPr>
              <a:buNone/>
            </a:pPr>
            <a:r>
              <a:rPr lang="en-US" sz="1600" dirty="0" smtClean="0">
                <a:solidFill>
                  <a:schemeClr val="tx1">
                    <a:lumMod val="65000"/>
                    <a:lumOff val="35000"/>
                  </a:schemeClr>
                </a:solidFill>
                <a:latin typeface="Courier New" pitchFamily="49" charset="0"/>
                <a:cs typeface="Courier New" pitchFamily="49" charset="0"/>
              </a:rPr>
              <a:t>B000NMJWZO      502</a:t>
            </a:r>
          </a:p>
          <a:p>
            <a:pPr>
              <a:buNone/>
            </a:pPr>
            <a:r>
              <a:rPr lang="en-US" sz="1600" dirty="0" smtClean="0">
                <a:solidFill>
                  <a:schemeClr val="tx1">
                    <a:lumMod val="65000"/>
                    <a:lumOff val="35000"/>
                  </a:schemeClr>
                </a:solidFill>
                <a:latin typeface="Courier New" pitchFamily="49" charset="0"/>
                <a:cs typeface="Courier New" pitchFamily="49" charset="0"/>
              </a:rPr>
              <a:t>B002QWHJOU      498</a:t>
            </a:r>
          </a:p>
          <a:p>
            <a:pPr>
              <a:buNone/>
            </a:pPr>
            <a:r>
              <a:rPr lang="en-US" sz="1600" dirty="0" smtClean="0">
                <a:solidFill>
                  <a:schemeClr val="tx1">
                    <a:lumMod val="65000"/>
                    <a:lumOff val="35000"/>
                  </a:schemeClr>
                </a:solidFill>
                <a:latin typeface="Courier New" pitchFamily="49" charset="0"/>
                <a:cs typeface="Courier New" pitchFamily="49" charset="0"/>
              </a:rPr>
              <a:t>B0026RQTGE      498</a:t>
            </a:r>
          </a:p>
          <a:p>
            <a:pPr>
              <a:buNone/>
            </a:pPr>
            <a:r>
              <a:rPr lang="en-US" sz="1600" dirty="0" smtClean="0">
                <a:solidFill>
                  <a:schemeClr val="tx1">
                    <a:lumMod val="65000"/>
                    <a:lumOff val="35000"/>
                  </a:schemeClr>
                </a:solidFill>
                <a:latin typeface="Courier New" pitchFamily="49" charset="0"/>
                <a:cs typeface="Courier New" pitchFamily="49" charset="0"/>
              </a:rPr>
              <a:t>B002QWP89S      498</a:t>
            </a:r>
          </a:p>
          <a:p>
            <a:pPr>
              <a:buNone/>
            </a:pPr>
            <a:r>
              <a:rPr lang="en-US" sz="1600" dirty="0" smtClean="0">
                <a:solidFill>
                  <a:schemeClr val="tx1">
                    <a:lumMod val="65000"/>
                    <a:lumOff val="35000"/>
                  </a:schemeClr>
                </a:solidFill>
                <a:latin typeface="Courier New" pitchFamily="49" charset="0"/>
                <a:cs typeface="Courier New" pitchFamily="49" charset="0"/>
              </a:rPr>
              <a:t>B002QWP8H0      498</a:t>
            </a:r>
          </a:p>
          <a:p>
            <a:pPr>
              <a:buNone/>
            </a:pPr>
            <a:r>
              <a:rPr lang="en-US" sz="1600" dirty="0" smtClean="0">
                <a:solidFill>
                  <a:schemeClr val="tx1">
                    <a:lumMod val="65000"/>
                    <a:lumOff val="35000"/>
                  </a:schemeClr>
                </a:solidFill>
                <a:latin typeface="Courier New" pitchFamily="49" charset="0"/>
                <a:cs typeface="Courier New" pitchFamily="49" charset="0"/>
              </a:rPr>
              <a:t>B001EO5Q64      474</a:t>
            </a:r>
          </a:p>
          <a:p>
            <a:pPr>
              <a:buNone/>
            </a:pPr>
            <a:r>
              <a:rPr lang="en-US" sz="1600" dirty="0" smtClean="0">
                <a:solidFill>
                  <a:schemeClr val="tx1">
                    <a:lumMod val="65000"/>
                    <a:lumOff val="35000"/>
                  </a:schemeClr>
                </a:solidFill>
                <a:latin typeface="Courier New" pitchFamily="49" charset="0"/>
                <a:cs typeface="Courier New" pitchFamily="49" charset="0"/>
              </a:rPr>
              <a:t>B000VK8AVK      369</a:t>
            </a:r>
          </a:p>
          <a:p>
            <a:pPr>
              <a:buNone/>
            </a:pPr>
            <a:r>
              <a:rPr lang="en-US" sz="1600" dirty="0" smtClean="0">
                <a:solidFill>
                  <a:schemeClr val="tx1">
                    <a:lumMod val="65000"/>
                    <a:lumOff val="35000"/>
                  </a:schemeClr>
                </a:solidFill>
                <a:latin typeface="Courier New" pitchFamily="49" charset="0"/>
                <a:cs typeface="Courier New" pitchFamily="49" charset="0"/>
              </a:rPr>
              <a:t>B001RVFEP2      369</a:t>
            </a: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dirty="0" smtClean="0">
              <a:solidFill>
                <a:schemeClr val="tx1">
                  <a:lumMod val="75000"/>
                  <a:lumOff val="25000"/>
                </a:schemeClr>
              </a:solidFill>
              <a:latin typeface="Arial" pitchFamily="34" charset="0"/>
              <a:cs typeface="Arial" pitchFamily="34" charset="0"/>
            </a:endParaRPr>
          </a:p>
          <a:p>
            <a:pPr>
              <a:buNone/>
            </a:pPr>
            <a:endParaRPr lang="en-US" sz="16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rPr>
              <a:t>Business Questions Answered (contd.)</a:t>
            </a:r>
            <a:endParaRPr lang="en-US" sz="2800" dirty="0"/>
          </a:p>
        </p:txBody>
      </p:sp>
      <p:sp>
        <p:nvSpPr>
          <p:cNvPr id="3" name="Content Placeholder 2"/>
          <p:cNvSpPr>
            <a:spLocks noGrp="1"/>
          </p:cNvSpPr>
          <p:nvPr>
            <p:ph sz="quarter" idx="1"/>
          </p:nvPr>
        </p:nvSpPr>
        <p:spPr/>
        <p:txBody>
          <a:bodyPr>
            <a:normAutofit fontScale="92500" lnSpcReduction="20000"/>
          </a:bodyPr>
          <a:lstStyle/>
          <a:p>
            <a:pPr>
              <a:buFont typeface="Wingdings" pitchFamily="2" charset="2"/>
              <a:buChar char="v"/>
            </a:pPr>
            <a:r>
              <a:rPr lang="en-US" sz="2000" dirty="0" smtClean="0">
                <a:solidFill>
                  <a:schemeClr val="tx1">
                    <a:lumMod val="65000"/>
                    <a:lumOff val="35000"/>
                  </a:schemeClr>
                </a:solidFill>
                <a:latin typeface="Arial" pitchFamily="34" charset="0"/>
                <a:cs typeface="Arial" pitchFamily="34" charset="0"/>
              </a:rPr>
              <a:t>How may product reviews are generated on a daily, monthly and yearly basis?</a:t>
            </a:r>
          </a:p>
          <a:p>
            <a:pPr>
              <a:buNone/>
            </a:pPr>
            <a:endParaRPr lang="en-US" sz="2000" dirty="0" smtClean="0">
              <a:solidFill>
                <a:schemeClr val="tx1">
                  <a:lumMod val="65000"/>
                  <a:lumOff val="35000"/>
                </a:schemeClr>
              </a:solidFill>
              <a:latin typeface="Arial" pitchFamily="34" charset="0"/>
              <a:cs typeface="Arial" pitchFamily="34" charset="0"/>
            </a:endParaRPr>
          </a:p>
          <a:p>
            <a:pPr>
              <a:buNone/>
            </a:pPr>
            <a:r>
              <a:rPr lang="en-US" sz="2000" b="1" dirty="0" smtClean="0">
                <a:solidFill>
                  <a:schemeClr val="tx1">
                    <a:lumMod val="65000"/>
                    <a:lumOff val="35000"/>
                  </a:schemeClr>
                </a:solidFill>
                <a:latin typeface="Arial" pitchFamily="34" charset="0"/>
                <a:cs typeface="Arial" pitchFamily="34" charset="0"/>
              </a:rPr>
              <a:t>Query to generate count of daily reviews:</a:t>
            </a:r>
          </a:p>
          <a:p>
            <a:pPr lvl="1">
              <a:buNone/>
            </a:pPr>
            <a:r>
              <a:rPr lang="en-US" sz="1600" dirty="0" smtClean="0">
                <a:solidFill>
                  <a:schemeClr val="tx1">
                    <a:lumMod val="65000"/>
                    <a:lumOff val="35000"/>
                  </a:schemeClr>
                </a:solidFill>
                <a:latin typeface="Courier New" pitchFamily="49" charset="0"/>
                <a:cs typeface="Courier New" pitchFamily="49" charset="0"/>
              </a:rPr>
              <a:t>	CREATE TABLE IF NOT EXISTS </a:t>
            </a:r>
            <a:r>
              <a:rPr lang="en-US" sz="1600" dirty="0" err="1" smtClean="0">
                <a:solidFill>
                  <a:schemeClr val="tx1">
                    <a:lumMod val="65000"/>
                    <a:lumOff val="35000"/>
                  </a:schemeClr>
                </a:solidFill>
                <a:latin typeface="Courier New" pitchFamily="49" charset="0"/>
                <a:cs typeface="Courier New" pitchFamily="49" charset="0"/>
              </a:rPr>
              <a:t>daily_reviews_data</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completeTime</a:t>
            </a:r>
            <a:r>
              <a:rPr lang="en-US" sz="1600" dirty="0" smtClean="0">
                <a:solidFill>
                  <a:schemeClr val="tx1">
                    <a:lumMod val="65000"/>
                    <a:lumOff val="35000"/>
                  </a:schemeClr>
                </a:solidFill>
                <a:latin typeface="Courier New" pitchFamily="49" charset="0"/>
                <a:cs typeface="Courier New" pitchFamily="49" charset="0"/>
              </a:rPr>
              <a:t> STRING, </a:t>
            </a:r>
            <a:r>
              <a:rPr lang="en-US" sz="1600" dirty="0" err="1" smtClean="0">
                <a:solidFill>
                  <a:schemeClr val="tx1">
                    <a:lumMod val="65000"/>
                    <a:lumOff val="35000"/>
                  </a:schemeClr>
                </a:solidFill>
                <a:latin typeface="Courier New" pitchFamily="49" charset="0"/>
                <a:cs typeface="Courier New" pitchFamily="49" charset="0"/>
              </a:rPr>
              <a:t>num_of_reviews</a:t>
            </a:r>
            <a:r>
              <a:rPr lang="en-US" sz="1600" dirty="0" smtClean="0">
                <a:solidFill>
                  <a:schemeClr val="tx1">
                    <a:lumMod val="65000"/>
                    <a:lumOff val="35000"/>
                  </a:schemeClr>
                </a:solidFill>
                <a:latin typeface="Courier New" pitchFamily="49" charset="0"/>
                <a:cs typeface="Courier New" pitchFamily="49" charset="0"/>
              </a:rPr>
              <a:t> INT) </a:t>
            </a:r>
          </a:p>
          <a:p>
            <a:pPr lvl="1">
              <a:buNone/>
            </a:pPr>
            <a:r>
              <a:rPr lang="en-US" sz="1600" dirty="0" smtClean="0">
                <a:solidFill>
                  <a:schemeClr val="tx1">
                    <a:lumMod val="65000"/>
                    <a:lumOff val="35000"/>
                  </a:schemeClr>
                </a:solidFill>
                <a:latin typeface="Courier New" pitchFamily="49" charset="0"/>
                <a:cs typeface="Courier New" pitchFamily="49" charset="0"/>
              </a:rPr>
              <a:t>   ROW FORMAT DELIMITED FIELDS TERMINATED BY ',';</a:t>
            </a: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r>
              <a:rPr lang="en-US" sz="1600" dirty="0" smtClean="0">
                <a:solidFill>
                  <a:schemeClr val="tx1">
                    <a:lumMod val="65000"/>
                    <a:lumOff val="35000"/>
                  </a:schemeClr>
                </a:solidFill>
                <a:latin typeface="Courier New" pitchFamily="49" charset="0"/>
                <a:cs typeface="Courier New" pitchFamily="49" charset="0"/>
              </a:rPr>
              <a:t>INSERT OVERWRITE TABLE </a:t>
            </a:r>
            <a:r>
              <a:rPr lang="en-US" sz="1600" dirty="0" err="1" smtClean="0">
                <a:solidFill>
                  <a:schemeClr val="tx1">
                    <a:lumMod val="65000"/>
                    <a:lumOff val="35000"/>
                  </a:schemeClr>
                </a:solidFill>
                <a:latin typeface="Courier New" pitchFamily="49" charset="0"/>
                <a:cs typeface="Courier New" pitchFamily="49" charset="0"/>
              </a:rPr>
              <a:t>daily_reviews_data</a:t>
            </a:r>
            <a:endParaRPr lang="en-US" sz="1600" dirty="0" smtClean="0">
              <a:solidFill>
                <a:schemeClr val="tx1">
                  <a:lumMod val="65000"/>
                  <a:lumOff val="35000"/>
                </a:schemeClr>
              </a:solidFill>
              <a:latin typeface="Courier New" pitchFamily="49" charset="0"/>
              <a:cs typeface="Courier New" pitchFamily="49" charset="0"/>
            </a:endParaRPr>
          </a:p>
          <a:p>
            <a:pPr lvl="2">
              <a:buNone/>
            </a:pPr>
            <a:r>
              <a:rPr lang="en-US" sz="1600" dirty="0" smtClean="0">
                <a:solidFill>
                  <a:schemeClr val="tx1">
                    <a:lumMod val="65000"/>
                    <a:lumOff val="35000"/>
                  </a:schemeClr>
                </a:solidFill>
                <a:latin typeface="Courier New" pitchFamily="49" charset="0"/>
                <a:cs typeface="Courier New" pitchFamily="49" charset="0"/>
              </a:rPr>
              <a:t>SELECT Time, count(*) as </a:t>
            </a:r>
            <a:r>
              <a:rPr lang="en-US" sz="1600" dirty="0" err="1" smtClean="0">
                <a:solidFill>
                  <a:schemeClr val="tx1">
                    <a:lumMod val="65000"/>
                    <a:lumOff val="35000"/>
                  </a:schemeClr>
                </a:solidFill>
                <a:latin typeface="Courier New" pitchFamily="49" charset="0"/>
                <a:cs typeface="Courier New" pitchFamily="49" charset="0"/>
              </a:rPr>
              <a:t>daily_rep</a:t>
            </a:r>
            <a:r>
              <a:rPr lang="en-US" sz="1600" dirty="0" smtClean="0">
                <a:solidFill>
                  <a:schemeClr val="tx1">
                    <a:lumMod val="65000"/>
                    <a:lumOff val="35000"/>
                  </a:schemeClr>
                </a:solidFill>
                <a:latin typeface="Courier New" pitchFamily="49" charset="0"/>
                <a:cs typeface="Courier New" pitchFamily="49" charset="0"/>
              </a:rPr>
              <a:t> FROM </a:t>
            </a:r>
          </a:p>
          <a:p>
            <a:pPr lvl="2">
              <a:buNone/>
            </a:pP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 WHERE Time IS NOT NULL</a:t>
            </a:r>
          </a:p>
          <a:p>
            <a:pPr lvl="2">
              <a:buNone/>
            </a:pPr>
            <a:r>
              <a:rPr lang="en-US" sz="1600" dirty="0" smtClean="0">
                <a:solidFill>
                  <a:schemeClr val="tx1">
                    <a:lumMod val="65000"/>
                    <a:lumOff val="35000"/>
                  </a:schemeClr>
                </a:solidFill>
                <a:latin typeface="Courier New" pitchFamily="49" charset="0"/>
                <a:cs typeface="Courier New" pitchFamily="49" charset="0"/>
              </a:rPr>
              <a:t>GROUP BY Time;</a:t>
            </a: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r>
              <a:rPr lang="en-US" sz="1600" dirty="0" smtClean="0">
                <a:solidFill>
                  <a:schemeClr val="tx1">
                    <a:lumMod val="65000"/>
                    <a:lumOff val="35000"/>
                  </a:schemeClr>
                </a:solidFill>
                <a:latin typeface="Courier New" pitchFamily="49" charset="0"/>
                <a:cs typeface="Courier New" pitchFamily="49" charset="0"/>
              </a:rPr>
              <a:t>INSERT OVERWRITE DIRECTORY</a:t>
            </a:r>
          </a:p>
          <a:p>
            <a:pPr lvl="2">
              <a:buNone/>
            </a:pPr>
            <a:r>
              <a:rPr lang="en-US" sz="1600" dirty="0" smtClean="0">
                <a:solidFill>
                  <a:schemeClr val="tx1">
                    <a:lumMod val="65000"/>
                    <a:lumOff val="35000"/>
                  </a:schemeClr>
                </a:solidFill>
                <a:latin typeface="Courier New" pitchFamily="49" charset="0"/>
                <a:cs typeface="Courier New" pitchFamily="49" charset="0"/>
              </a:rPr>
              <a:t>'/apps/hive/warehouse/</a:t>
            </a:r>
            <a:r>
              <a:rPr lang="en-US" sz="1600" dirty="0" err="1" smtClean="0">
                <a:solidFill>
                  <a:schemeClr val="tx1">
                    <a:lumMod val="65000"/>
                    <a:lumOff val="35000"/>
                  </a:schemeClr>
                </a:solidFill>
                <a:latin typeface="Courier New" pitchFamily="49" charset="0"/>
                <a:cs typeface="Courier New" pitchFamily="49" charset="0"/>
              </a:rPr>
              <a:t>sb_amazon_food_review_db.db</a:t>
            </a:r>
            <a:r>
              <a:rPr lang="en-US" sz="1600" dirty="0" smtClean="0">
                <a:solidFill>
                  <a:schemeClr val="tx1">
                    <a:lumMod val="65000"/>
                    <a:lumOff val="35000"/>
                  </a:schemeClr>
                </a:solidFill>
                <a:latin typeface="Courier New" pitchFamily="49" charset="0"/>
                <a:cs typeface="Courier New" pitchFamily="49" charset="0"/>
              </a:rPr>
              <a:t>/CASE3/Y</a:t>
            </a:r>
          </a:p>
          <a:p>
            <a:pPr lvl="2">
              <a:buNone/>
            </a:pPr>
            <a:r>
              <a:rPr lang="en-US" sz="1600" dirty="0" smtClean="0">
                <a:solidFill>
                  <a:schemeClr val="tx1">
                    <a:lumMod val="65000"/>
                    <a:lumOff val="35000"/>
                  </a:schemeClr>
                </a:solidFill>
                <a:latin typeface="Courier New" pitchFamily="49" charset="0"/>
                <a:cs typeface="Courier New" pitchFamily="49" charset="0"/>
              </a:rPr>
              <a:t>EARLY' SELECT ROUND(AVG(</a:t>
            </a:r>
            <a:r>
              <a:rPr lang="en-US" sz="1600" dirty="0" err="1" smtClean="0">
                <a:solidFill>
                  <a:schemeClr val="tx1">
                    <a:lumMod val="65000"/>
                    <a:lumOff val="35000"/>
                  </a:schemeClr>
                </a:solidFill>
                <a:latin typeface="Courier New" pitchFamily="49" charset="0"/>
                <a:cs typeface="Courier New" pitchFamily="49" charset="0"/>
              </a:rPr>
              <a:t>num_of_reviews</a:t>
            </a:r>
            <a:r>
              <a:rPr lang="en-US" sz="1600" dirty="0" smtClean="0">
                <a:solidFill>
                  <a:schemeClr val="tx1">
                    <a:lumMod val="65000"/>
                    <a:lumOff val="35000"/>
                  </a:schemeClr>
                </a:solidFill>
                <a:latin typeface="Courier New" pitchFamily="49" charset="0"/>
                <a:cs typeface="Courier New" pitchFamily="49" charset="0"/>
              </a:rPr>
              <a:t>)) FROM </a:t>
            </a:r>
          </a:p>
          <a:p>
            <a:pPr lvl="2">
              <a:buNone/>
            </a:pPr>
            <a:r>
              <a:rPr lang="en-US" sz="1600" dirty="0" err="1" smtClean="0">
                <a:solidFill>
                  <a:schemeClr val="tx1">
                    <a:lumMod val="65000"/>
                    <a:lumOff val="35000"/>
                  </a:schemeClr>
                </a:solidFill>
                <a:latin typeface="Courier New" pitchFamily="49" charset="0"/>
                <a:cs typeface="Courier New" pitchFamily="49" charset="0"/>
              </a:rPr>
              <a:t>yearly_reviews_data</a:t>
            </a:r>
            <a:r>
              <a:rPr lang="en-US" sz="1600" dirty="0" smtClean="0">
                <a:solidFill>
                  <a:schemeClr val="tx1">
                    <a:lumMod val="65000"/>
                    <a:lumOff val="35000"/>
                  </a:schemeClr>
                </a:solidFill>
                <a:latin typeface="Courier New" pitchFamily="49" charset="0"/>
                <a:cs typeface="Courier New" pitchFamily="49" charset="0"/>
              </a:rPr>
              <a:t>;</a:t>
            </a: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0">
              <a:buClr>
                <a:srgbClr val="FE8637"/>
              </a:buClr>
              <a:buNone/>
            </a:pPr>
            <a:r>
              <a:rPr lang="en-US" sz="2000" b="1" u="sng" dirty="0" smtClean="0">
                <a:solidFill>
                  <a:schemeClr val="tx1">
                    <a:lumMod val="65000"/>
                    <a:lumOff val="35000"/>
                  </a:schemeClr>
                </a:solidFill>
                <a:latin typeface="Arial" pitchFamily="34" charset="0"/>
                <a:cs typeface="Arial" pitchFamily="34" charset="0"/>
              </a:rPr>
              <a:t>RESULT:</a:t>
            </a:r>
            <a:r>
              <a:rPr lang="en-US" sz="2000" dirty="0" smtClean="0">
                <a:solidFill>
                  <a:schemeClr val="tx1">
                    <a:lumMod val="65000"/>
                    <a:lumOff val="35000"/>
                  </a:schemeClr>
                </a:solidFill>
                <a:latin typeface="Arial" pitchFamily="34" charset="0"/>
                <a:cs typeface="Arial" pitchFamily="34" charset="0"/>
              </a:rPr>
              <a:t> 179.0</a:t>
            </a: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b="1" u="sng"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fontScale="92500" lnSpcReduction="10000"/>
          </a:bodyPr>
          <a:lstStyle/>
          <a:p>
            <a:pPr>
              <a:buNone/>
            </a:pPr>
            <a:r>
              <a:rPr lang="en-US" sz="2000" b="1" dirty="0" smtClean="0">
                <a:solidFill>
                  <a:schemeClr val="tx1">
                    <a:lumMod val="65000"/>
                    <a:lumOff val="35000"/>
                  </a:schemeClr>
                </a:solidFill>
                <a:latin typeface="Arial" pitchFamily="34" charset="0"/>
                <a:cs typeface="Arial" pitchFamily="34" charset="0"/>
              </a:rPr>
              <a:t>Query to generate count of monthly reviews:</a:t>
            </a:r>
          </a:p>
          <a:p>
            <a:pPr>
              <a:buNone/>
            </a:pPr>
            <a:endParaRPr lang="en-US" sz="2000" b="1" dirty="0" smtClean="0">
              <a:solidFill>
                <a:schemeClr val="tx1">
                  <a:lumMod val="65000"/>
                  <a:lumOff val="35000"/>
                </a:schemeClr>
              </a:solidFill>
              <a:latin typeface="Arial" pitchFamily="34" charset="0"/>
              <a:cs typeface="Arial" pitchFamily="34"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   CREATE TABLE IF NOT EXISTS </a:t>
            </a:r>
            <a:r>
              <a:rPr lang="en-US" sz="1600" dirty="0" err="1" smtClean="0">
                <a:solidFill>
                  <a:schemeClr val="tx1">
                    <a:lumMod val="65000"/>
                    <a:lumOff val="35000"/>
                  </a:schemeClr>
                </a:solidFill>
                <a:latin typeface="Courier New" pitchFamily="49" charset="0"/>
                <a:cs typeface="Courier New" pitchFamily="49" charset="0"/>
              </a:rPr>
              <a:t>monthly_reviews_data</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monthTime</a:t>
            </a:r>
            <a:r>
              <a:rPr lang="en-US" sz="1600" dirty="0" smtClean="0">
                <a:solidFill>
                  <a:schemeClr val="tx1">
                    <a:lumMod val="65000"/>
                    <a:lumOff val="35000"/>
                  </a:schemeClr>
                </a:solidFill>
                <a:latin typeface="Courier New" pitchFamily="49" charset="0"/>
                <a:cs typeface="Courier New" pitchFamily="49" charset="0"/>
              </a:rPr>
              <a:t> STRING, </a:t>
            </a:r>
            <a:r>
              <a:rPr lang="en-US" sz="1600" dirty="0" err="1" smtClean="0">
                <a:solidFill>
                  <a:schemeClr val="tx1">
                    <a:lumMod val="65000"/>
                    <a:lumOff val="35000"/>
                  </a:schemeClr>
                </a:solidFill>
                <a:latin typeface="Courier New" pitchFamily="49" charset="0"/>
                <a:cs typeface="Courier New" pitchFamily="49" charset="0"/>
              </a:rPr>
              <a:t>num_of_reviews</a:t>
            </a:r>
            <a:r>
              <a:rPr lang="en-US" sz="1600" dirty="0" smtClean="0">
                <a:solidFill>
                  <a:schemeClr val="tx1">
                    <a:lumMod val="65000"/>
                    <a:lumOff val="35000"/>
                  </a:schemeClr>
                </a:solidFill>
                <a:latin typeface="Courier New" pitchFamily="49" charset="0"/>
                <a:cs typeface="Courier New" pitchFamily="49" charset="0"/>
              </a:rPr>
              <a:t> INT) ROW FORMAT  </a:t>
            </a:r>
          </a:p>
          <a:p>
            <a:pPr lvl="1">
              <a:buNone/>
            </a:pPr>
            <a:r>
              <a:rPr lang="en-US" sz="1600" dirty="0" smtClean="0">
                <a:solidFill>
                  <a:schemeClr val="tx1">
                    <a:lumMod val="65000"/>
                    <a:lumOff val="35000"/>
                  </a:schemeClr>
                </a:solidFill>
                <a:latin typeface="Courier New" pitchFamily="49" charset="0"/>
                <a:cs typeface="Courier New" pitchFamily="49" charset="0"/>
              </a:rPr>
              <a:t>   DELIMITED FIELDS TERMINATED BY ',';</a:t>
            </a:r>
          </a:p>
          <a:p>
            <a:pPr lvl="1">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r>
              <a:rPr lang="en-US" sz="1600" dirty="0" smtClean="0">
                <a:solidFill>
                  <a:schemeClr val="tx1">
                    <a:lumMod val="65000"/>
                    <a:lumOff val="35000"/>
                  </a:schemeClr>
                </a:solidFill>
                <a:latin typeface="Courier New" pitchFamily="49" charset="0"/>
                <a:cs typeface="Courier New" pitchFamily="49" charset="0"/>
              </a:rPr>
              <a:t>INSERT OVERWRITE TABLE </a:t>
            </a:r>
            <a:r>
              <a:rPr lang="en-US" sz="1600" dirty="0" err="1" smtClean="0">
                <a:solidFill>
                  <a:schemeClr val="tx1">
                    <a:lumMod val="65000"/>
                    <a:lumOff val="35000"/>
                  </a:schemeClr>
                </a:solidFill>
                <a:latin typeface="Courier New" pitchFamily="49" charset="0"/>
                <a:cs typeface="Courier New" pitchFamily="49" charset="0"/>
              </a:rPr>
              <a:t>monthly_reviews_data</a:t>
            </a:r>
            <a:endParaRPr lang="en-US" sz="1600" dirty="0" smtClean="0">
              <a:solidFill>
                <a:schemeClr val="tx1">
                  <a:lumMod val="65000"/>
                  <a:lumOff val="35000"/>
                </a:schemeClr>
              </a:solidFill>
              <a:latin typeface="Courier New" pitchFamily="49" charset="0"/>
              <a:cs typeface="Courier New" pitchFamily="49" charset="0"/>
            </a:endParaRPr>
          </a:p>
          <a:p>
            <a:pPr lvl="2">
              <a:buNone/>
            </a:pPr>
            <a:r>
              <a:rPr lang="en-US" sz="1600" dirty="0" smtClean="0">
                <a:solidFill>
                  <a:schemeClr val="tx1">
                    <a:lumMod val="65000"/>
                    <a:lumOff val="35000"/>
                  </a:schemeClr>
                </a:solidFill>
                <a:latin typeface="Courier New" pitchFamily="49" charset="0"/>
                <a:cs typeface="Courier New" pitchFamily="49" charset="0"/>
              </a:rPr>
              <a:t>SELECT </a:t>
            </a:r>
            <a:r>
              <a:rPr lang="en-US" sz="1600" dirty="0" err="1" smtClean="0">
                <a:solidFill>
                  <a:schemeClr val="tx1">
                    <a:lumMod val="65000"/>
                    <a:lumOff val="35000"/>
                  </a:schemeClr>
                </a:solidFill>
                <a:latin typeface="Courier New" pitchFamily="49" charset="0"/>
                <a:cs typeface="Courier New" pitchFamily="49" charset="0"/>
              </a:rPr>
              <a:t>date_format</a:t>
            </a:r>
            <a:r>
              <a:rPr lang="en-US" sz="1600" dirty="0" smtClean="0">
                <a:solidFill>
                  <a:schemeClr val="tx1">
                    <a:lumMod val="65000"/>
                    <a:lumOff val="35000"/>
                  </a:schemeClr>
                </a:solidFill>
                <a:latin typeface="Courier New" pitchFamily="49" charset="0"/>
                <a:cs typeface="Courier New" pitchFamily="49" charset="0"/>
              </a:rPr>
              <a:t>(</a:t>
            </a:r>
            <a:r>
              <a:rPr lang="en-US" sz="1600" dirty="0" err="1" smtClean="0">
                <a:solidFill>
                  <a:schemeClr val="tx1">
                    <a:lumMod val="65000"/>
                    <a:lumOff val="35000"/>
                  </a:schemeClr>
                </a:solidFill>
                <a:latin typeface="Courier New" pitchFamily="49" charset="0"/>
                <a:cs typeface="Courier New" pitchFamily="49" charset="0"/>
              </a:rPr>
              <a:t>Time,'yyyyMM</a:t>
            </a:r>
            <a:r>
              <a:rPr lang="en-US" sz="1600" dirty="0" smtClean="0">
                <a:solidFill>
                  <a:schemeClr val="tx1">
                    <a:lumMod val="65000"/>
                    <a:lumOff val="35000"/>
                  </a:schemeClr>
                </a:solidFill>
                <a:latin typeface="Courier New" pitchFamily="49" charset="0"/>
                <a:cs typeface="Courier New" pitchFamily="49" charset="0"/>
              </a:rPr>
              <a:t>'), COUNT(*) FROM</a:t>
            </a:r>
          </a:p>
          <a:p>
            <a:pPr lvl="2">
              <a:buNone/>
            </a:pP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 </a:t>
            </a:r>
          </a:p>
          <a:p>
            <a:pPr lvl="2">
              <a:buNone/>
            </a:pPr>
            <a:r>
              <a:rPr lang="en-US" sz="1600" dirty="0" smtClean="0">
                <a:solidFill>
                  <a:schemeClr val="tx1">
                    <a:lumMod val="65000"/>
                    <a:lumOff val="35000"/>
                  </a:schemeClr>
                </a:solidFill>
                <a:latin typeface="Courier New" pitchFamily="49" charset="0"/>
                <a:cs typeface="Courier New" pitchFamily="49" charset="0"/>
              </a:rPr>
              <a:t>WHERE Time IS NOT NULL</a:t>
            </a:r>
          </a:p>
          <a:p>
            <a:pPr lvl="2">
              <a:buNone/>
            </a:pPr>
            <a:r>
              <a:rPr lang="en-US" sz="1600" dirty="0" smtClean="0">
                <a:solidFill>
                  <a:schemeClr val="tx1">
                    <a:lumMod val="65000"/>
                    <a:lumOff val="35000"/>
                  </a:schemeClr>
                </a:solidFill>
                <a:latin typeface="Courier New" pitchFamily="49" charset="0"/>
                <a:cs typeface="Courier New" pitchFamily="49" charset="0"/>
              </a:rPr>
              <a:t>GROUP BY </a:t>
            </a:r>
            <a:r>
              <a:rPr lang="en-US" sz="1600" dirty="0" err="1" smtClean="0">
                <a:solidFill>
                  <a:schemeClr val="tx1">
                    <a:lumMod val="65000"/>
                    <a:lumOff val="35000"/>
                  </a:schemeClr>
                </a:solidFill>
                <a:latin typeface="Courier New" pitchFamily="49" charset="0"/>
                <a:cs typeface="Courier New" pitchFamily="49" charset="0"/>
              </a:rPr>
              <a:t>date_format</a:t>
            </a:r>
            <a:r>
              <a:rPr lang="en-US" sz="1600" dirty="0" smtClean="0">
                <a:solidFill>
                  <a:schemeClr val="tx1">
                    <a:lumMod val="65000"/>
                    <a:lumOff val="35000"/>
                  </a:schemeClr>
                </a:solidFill>
                <a:latin typeface="Courier New" pitchFamily="49" charset="0"/>
                <a:cs typeface="Courier New" pitchFamily="49" charset="0"/>
              </a:rPr>
              <a:t>(</a:t>
            </a:r>
            <a:r>
              <a:rPr lang="en-US" sz="1600" dirty="0" err="1" smtClean="0">
                <a:solidFill>
                  <a:schemeClr val="tx1">
                    <a:lumMod val="65000"/>
                    <a:lumOff val="35000"/>
                  </a:schemeClr>
                </a:solidFill>
                <a:latin typeface="Courier New" pitchFamily="49" charset="0"/>
                <a:cs typeface="Courier New" pitchFamily="49" charset="0"/>
              </a:rPr>
              <a:t>Time,'yyyyMM</a:t>
            </a:r>
            <a:r>
              <a:rPr lang="en-US" sz="1600" dirty="0" smtClean="0">
                <a:solidFill>
                  <a:schemeClr val="tx1">
                    <a:lumMod val="65000"/>
                    <a:lumOff val="35000"/>
                  </a:schemeClr>
                </a:solidFill>
                <a:latin typeface="Courier New" pitchFamily="49" charset="0"/>
                <a:cs typeface="Courier New" pitchFamily="49" charset="0"/>
              </a:rPr>
              <a:t>');</a:t>
            </a: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r>
              <a:rPr lang="en-US" sz="1600" dirty="0" smtClean="0">
                <a:solidFill>
                  <a:schemeClr val="tx1">
                    <a:lumMod val="65000"/>
                    <a:lumOff val="35000"/>
                  </a:schemeClr>
                </a:solidFill>
                <a:latin typeface="Courier New" pitchFamily="49" charset="0"/>
                <a:cs typeface="Courier New" pitchFamily="49" charset="0"/>
              </a:rPr>
              <a:t>INSERT OVERWRITE DIRECTORY</a:t>
            </a:r>
          </a:p>
          <a:p>
            <a:pPr lvl="2">
              <a:buNone/>
            </a:pPr>
            <a:r>
              <a:rPr lang="en-US" sz="1600" dirty="0" smtClean="0">
                <a:solidFill>
                  <a:schemeClr val="tx1">
                    <a:lumMod val="65000"/>
                    <a:lumOff val="35000"/>
                  </a:schemeClr>
                </a:solidFill>
                <a:latin typeface="Courier New" pitchFamily="49" charset="0"/>
                <a:cs typeface="Courier New" pitchFamily="49" charset="0"/>
              </a:rPr>
              <a:t>'/apps/hive/warehouse/</a:t>
            </a:r>
            <a:r>
              <a:rPr lang="en-US" sz="1600" dirty="0" err="1" smtClean="0">
                <a:solidFill>
                  <a:schemeClr val="tx1">
                    <a:lumMod val="65000"/>
                    <a:lumOff val="35000"/>
                  </a:schemeClr>
                </a:solidFill>
                <a:latin typeface="Courier New" pitchFamily="49" charset="0"/>
                <a:cs typeface="Courier New" pitchFamily="49" charset="0"/>
              </a:rPr>
              <a:t>sb_amazon_food_review_db.db</a:t>
            </a:r>
            <a:r>
              <a:rPr lang="en-US" sz="1600" dirty="0" smtClean="0">
                <a:solidFill>
                  <a:schemeClr val="tx1">
                    <a:lumMod val="65000"/>
                    <a:lumOff val="35000"/>
                  </a:schemeClr>
                </a:solidFill>
                <a:latin typeface="Courier New" pitchFamily="49" charset="0"/>
                <a:cs typeface="Courier New" pitchFamily="49" charset="0"/>
              </a:rPr>
              <a:t>/CASE3/M</a:t>
            </a:r>
          </a:p>
          <a:p>
            <a:pPr lvl="2">
              <a:buNone/>
            </a:pPr>
            <a:r>
              <a:rPr lang="en-US" sz="1600" dirty="0" smtClean="0">
                <a:solidFill>
                  <a:schemeClr val="tx1">
                    <a:lumMod val="65000"/>
                    <a:lumOff val="35000"/>
                  </a:schemeClr>
                </a:solidFill>
                <a:latin typeface="Courier New" pitchFamily="49" charset="0"/>
                <a:cs typeface="Courier New" pitchFamily="49" charset="0"/>
              </a:rPr>
              <a:t>ONTHLY' SELECT ROUND(AVG(</a:t>
            </a:r>
            <a:r>
              <a:rPr lang="en-US" sz="1600" dirty="0" err="1" smtClean="0">
                <a:solidFill>
                  <a:schemeClr val="tx1">
                    <a:lumMod val="65000"/>
                    <a:lumOff val="35000"/>
                  </a:schemeClr>
                </a:solidFill>
                <a:latin typeface="Courier New" pitchFamily="49" charset="0"/>
                <a:cs typeface="Courier New" pitchFamily="49" charset="0"/>
              </a:rPr>
              <a:t>num_of_reviews</a:t>
            </a:r>
            <a:r>
              <a:rPr lang="en-US" sz="1600" dirty="0" smtClean="0">
                <a:solidFill>
                  <a:schemeClr val="tx1">
                    <a:lumMod val="65000"/>
                    <a:lumOff val="35000"/>
                  </a:schemeClr>
                </a:solidFill>
                <a:latin typeface="Courier New" pitchFamily="49" charset="0"/>
                <a:cs typeface="Courier New" pitchFamily="49" charset="0"/>
              </a:rPr>
              <a:t>)) FROM </a:t>
            </a:r>
          </a:p>
          <a:p>
            <a:pPr lvl="2">
              <a:buNone/>
            </a:pPr>
            <a:r>
              <a:rPr lang="en-US" sz="1600" dirty="0" err="1" smtClean="0">
                <a:solidFill>
                  <a:schemeClr val="tx1">
                    <a:lumMod val="65000"/>
                    <a:lumOff val="35000"/>
                  </a:schemeClr>
                </a:solidFill>
                <a:latin typeface="Courier New" pitchFamily="49" charset="0"/>
                <a:cs typeface="Courier New" pitchFamily="49" charset="0"/>
              </a:rPr>
              <a:t>monthly_reviews_data</a:t>
            </a:r>
            <a:r>
              <a:rPr lang="en-US" sz="1600" dirty="0" smtClean="0">
                <a:solidFill>
                  <a:schemeClr val="tx1">
                    <a:lumMod val="65000"/>
                    <a:lumOff val="35000"/>
                  </a:schemeClr>
                </a:solidFill>
                <a:latin typeface="Courier New" pitchFamily="49" charset="0"/>
                <a:cs typeface="Courier New" pitchFamily="49" charset="0"/>
              </a:rPr>
              <a:t>;</a:t>
            </a: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a:buClr>
                <a:srgbClr val="FE8637"/>
              </a:buClr>
              <a:buNone/>
            </a:pPr>
            <a:r>
              <a:rPr lang="en-US" sz="2000" b="1" u="sng" dirty="0" smtClean="0">
                <a:solidFill>
                  <a:schemeClr val="tx1">
                    <a:lumMod val="65000"/>
                    <a:lumOff val="35000"/>
                  </a:schemeClr>
                </a:solidFill>
                <a:latin typeface="Arial" pitchFamily="34" charset="0"/>
                <a:cs typeface="Arial" pitchFamily="34" charset="0"/>
              </a:rPr>
              <a:t>RESULT:</a:t>
            </a:r>
            <a:r>
              <a:rPr lang="en-US" sz="2000" dirty="0" smtClean="0">
                <a:solidFill>
                  <a:schemeClr val="tx1">
                    <a:lumMod val="65000"/>
                    <a:lumOff val="35000"/>
                  </a:schemeClr>
                </a:solidFill>
                <a:latin typeface="Arial" pitchFamily="34" charset="0"/>
                <a:cs typeface="Arial" pitchFamily="34" charset="0"/>
              </a:rPr>
              <a:t> </a:t>
            </a:r>
            <a:r>
              <a:rPr lang="en-US" sz="2000" dirty="0" smtClean="0">
                <a:solidFill>
                  <a:schemeClr val="tx1">
                    <a:lumMod val="65000"/>
                    <a:lumOff val="35000"/>
                  </a:schemeClr>
                </a:solidFill>
                <a:latin typeface="Courier New" pitchFamily="49" charset="0"/>
                <a:cs typeface="Courier New" pitchFamily="49" charset="0"/>
              </a:rPr>
              <a:t>3975.0</a:t>
            </a:r>
          </a:p>
          <a:p>
            <a:pPr lvl="0">
              <a:buClr>
                <a:srgbClr val="FE8637"/>
              </a:buClr>
              <a:buNone/>
            </a:pPr>
            <a:endParaRPr lang="en-US" sz="2000" dirty="0" smtClean="0">
              <a:solidFill>
                <a:prstClr val="black">
                  <a:lumMod val="75000"/>
                  <a:lumOff val="25000"/>
                </a:prstClr>
              </a:solidFill>
              <a:latin typeface="Arial" pitchFamily="34" charset="0"/>
              <a:cs typeface="Arial" pitchFamily="34" charset="0"/>
            </a:endParaRPr>
          </a:p>
          <a:p>
            <a:pPr>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fontScale="92500" lnSpcReduction="10000"/>
          </a:bodyPr>
          <a:lstStyle/>
          <a:p>
            <a:pPr>
              <a:buNone/>
            </a:pPr>
            <a:r>
              <a:rPr lang="en-US" sz="2000" b="1" dirty="0" smtClean="0">
                <a:solidFill>
                  <a:schemeClr val="tx1">
                    <a:lumMod val="65000"/>
                    <a:lumOff val="35000"/>
                  </a:schemeClr>
                </a:solidFill>
                <a:latin typeface="Arial" pitchFamily="34" charset="0"/>
                <a:cs typeface="Arial" pitchFamily="34" charset="0"/>
              </a:rPr>
              <a:t>Query to generate count of yearly reviews:</a:t>
            </a:r>
          </a:p>
          <a:p>
            <a:pPr>
              <a:buNone/>
            </a:pPr>
            <a:endParaRPr lang="en-US" sz="2000" b="1" dirty="0" smtClean="0">
              <a:solidFill>
                <a:schemeClr val="tx1">
                  <a:lumMod val="65000"/>
                  <a:lumOff val="35000"/>
                </a:schemeClr>
              </a:solidFill>
              <a:latin typeface="Arial" pitchFamily="34" charset="0"/>
              <a:cs typeface="Arial" pitchFamily="34"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CREATE TABLE IF NOT EXISTS </a:t>
            </a:r>
            <a:r>
              <a:rPr lang="en-US" sz="1600" dirty="0" err="1" smtClean="0">
                <a:solidFill>
                  <a:schemeClr val="tx1">
                    <a:lumMod val="65000"/>
                    <a:lumOff val="35000"/>
                  </a:schemeClr>
                </a:solidFill>
                <a:latin typeface="Courier New" pitchFamily="49" charset="0"/>
                <a:cs typeface="Courier New" pitchFamily="49" charset="0"/>
              </a:rPr>
              <a:t>yearly_reviews_data</a:t>
            </a:r>
            <a:endParaRPr lang="en-US" sz="1600" dirty="0" smtClean="0">
              <a:solidFill>
                <a:schemeClr val="tx1">
                  <a:lumMod val="65000"/>
                  <a:lumOff val="35000"/>
                </a:schemeClr>
              </a:solidFill>
              <a:latin typeface="Courier New" pitchFamily="49" charset="0"/>
              <a:cs typeface="Courier New" pitchFamily="49"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a:t>
            </a:r>
            <a:r>
              <a:rPr lang="en-US" sz="1600" dirty="0" err="1" smtClean="0">
                <a:solidFill>
                  <a:schemeClr val="tx1">
                    <a:lumMod val="65000"/>
                    <a:lumOff val="35000"/>
                  </a:schemeClr>
                </a:solidFill>
                <a:latin typeface="Courier New" pitchFamily="49" charset="0"/>
                <a:cs typeface="Courier New" pitchFamily="49" charset="0"/>
              </a:rPr>
              <a:t>yearTime</a:t>
            </a:r>
            <a:r>
              <a:rPr lang="en-US" sz="1600" dirty="0" smtClean="0">
                <a:solidFill>
                  <a:schemeClr val="tx1">
                    <a:lumMod val="65000"/>
                    <a:lumOff val="35000"/>
                  </a:schemeClr>
                </a:solidFill>
                <a:latin typeface="Courier New" pitchFamily="49" charset="0"/>
                <a:cs typeface="Courier New" pitchFamily="49" charset="0"/>
              </a:rPr>
              <a:t> STRING, </a:t>
            </a:r>
            <a:r>
              <a:rPr lang="en-US" sz="1600" dirty="0" err="1" smtClean="0">
                <a:solidFill>
                  <a:schemeClr val="tx1">
                    <a:lumMod val="65000"/>
                    <a:lumOff val="35000"/>
                  </a:schemeClr>
                </a:solidFill>
                <a:latin typeface="Courier New" pitchFamily="49" charset="0"/>
                <a:cs typeface="Courier New" pitchFamily="49" charset="0"/>
              </a:rPr>
              <a:t>num_of_reviews</a:t>
            </a:r>
            <a:r>
              <a:rPr lang="en-US" sz="1600" dirty="0" smtClean="0">
                <a:solidFill>
                  <a:schemeClr val="tx1">
                    <a:lumMod val="65000"/>
                    <a:lumOff val="35000"/>
                  </a:schemeClr>
                </a:solidFill>
                <a:latin typeface="Courier New" pitchFamily="49" charset="0"/>
                <a:cs typeface="Courier New" pitchFamily="49" charset="0"/>
              </a:rPr>
              <a:t> INT) ROW FORMAT </a:t>
            </a:r>
          </a:p>
          <a:p>
            <a:pPr lvl="1">
              <a:buNone/>
            </a:pPr>
            <a:r>
              <a:rPr lang="en-US" sz="1600" dirty="0" smtClean="0">
                <a:solidFill>
                  <a:schemeClr val="tx1">
                    <a:lumMod val="65000"/>
                    <a:lumOff val="35000"/>
                  </a:schemeClr>
                </a:solidFill>
                <a:latin typeface="Courier New" pitchFamily="49" charset="0"/>
                <a:cs typeface="Courier New" pitchFamily="49" charset="0"/>
              </a:rPr>
              <a:t> DELIMITED FIELDS TERMINATED BY ',';</a:t>
            </a:r>
          </a:p>
          <a:p>
            <a:pPr lvl="1">
              <a:buNone/>
            </a:pPr>
            <a:endParaRPr lang="en-US" sz="1600" dirty="0" smtClean="0">
              <a:solidFill>
                <a:schemeClr val="tx1">
                  <a:lumMod val="65000"/>
                  <a:lumOff val="35000"/>
                </a:schemeClr>
              </a:solidFill>
              <a:latin typeface="Courier New" pitchFamily="49" charset="0"/>
              <a:cs typeface="Courier New" pitchFamily="49"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INSERT OVERWRITE TABLE </a:t>
            </a:r>
            <a:r>
              <a:rPr lang="en-US" sz="1600" dirty="0" err="1" smtClean="0">
                <a:solidFill>
                  <a:schemeClr val="tx1">
                    <a:lumMod val="65000"/>
                    <a:lumOff val="35000"/>
                  </a:schemeClr>
                </a:solidFill>
                <a:latin typeface="Courier New" pitchFamily="49" charset="0"/>
                <a:cs typeface="Courier New" pitchFamily="49" charset="0"/>
              </a:rPr>
              <a:t>yearly_reviews_data</a:t>
            </a:r>
            <a:endParaRPr lang="en-US" sz="1600" dirty="0" smtClean="0">
              <a:solidFill>
                <a:schemeClr val="tx1">
                  <a:lumMod val="65000"/>
                  <a:lumOff val="35000"/>
                </a:schemeClr>
              </a:solidFill>
              <a:latin typeface="Courier New" pitchFamily="49" charset="0"/>
              <a:cs typeface="Courier New" pitchFamily="49"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SELECT YEAR(Time), count(*) as </a:t>
            </a:r>
            <a:r>
              <a:rPr lang="en-US" sz="1600" dirty="0" err="1" smtClean="0">
                <a:solidFill>
                  <a:schemeClr val="tx1">
                    <a:lumMod val="65000"/>
                    <a:lumOff val="35000"/>
                  </a:schemeClr>
                </a:solidFill>
                <a:latin typeface="Courier New" pitchFamily="49" charset="0"/>
                <a:cs typeface="Courier New" pitchFamily="49" charset="0"/>
              </a:rPr>
              <a:t>daily_rep</a:t>
            </a:r>
            <a:r>
              <a:rPr lang="en-US" sz="1600" dirty="0" smtClean="0">
                <a:solidFill>
                  <a:schemeClr val="tx1">
                    <a:lumMod val="65000"/>
                    <a:lumOff val="35000"/>
                  </a:schemeClr>
                </a:solidFill>
                <a:latin typeface="Courier New" pitchFamily="49" charset="0"/>
                <a:cs typeface="Courier New" pitchFamily="49" charset="0"/>
              </a:rPr>
              <a:t> FROM </a:t>
            </a:r>
          </a:p>
          <a:p>
            <a:pPr lvl="1">
              <a:buNone/>
            </a:pP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 WHERE Time IS NOT NULL</a:t>
            </a:r>
          </a:p>
          <a:p>
            <a:pPr lvl="1">
              <a:buNone/>
            </a:pPr>
            <a:r>
              <a:rPr lang="en-US" sz="1600" dirty="0" smtClean="0">
                <a:solidFill>
                  <a:schemeClr val="tx1">
                    <a:lumMod val="65000"/>
                    <a:lumOff val="35000"/>
                  </a:schemeClr>
                </a:solidFill>
                <a:latin typeface="Courier New" pitchFamily="49" charset="0"/>
                <a:cs typeface="Courier New" pitchFamily="49" charset="0"/>
              </a:rPr>
              <a:t>GROUP BY YEAR(Time);</a:t>
            </a:r>
          </a:p>
          <a:p>
            <a:pPr lvl="1">
              <a:buNone/>
            </a:pPr>
            <a:endParaRPr lang="en-US" sz="1600" dirty="0" smtClean="0">
              <a:solidFill>
                <a:schemeClr val="tx1">
                  <a:lumMod val="65000"/>
                  <a:lumOff val="35000"/>
                </a:schemeClr>
              </a:solidFill>
              <a:latin typeface="Courier New" pitchFamily="49" charset="0"/>
              <a:cs typeface="Courier New" pitchFamily="49"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INSERT OVERWRITE DIRECTORY </a:t>
            </a:r>
          </a:p>
          <a:p>
            <a:pPr lvl="1">
              <a:buNone/>
            </a:pPr>
            <a:r>
              <a:rPr lang="en-US" sz="1600" dirty="0" smtClean="0">
                <a:solidFill>
                  <a:schemeClr val="tx1">
                    <a:lumMod val="65000"/>
                    <a:lumOff val="35000"/>
                  </a:schemeClr>
                </a:solidFill>
                <a:latin typeface="Courier New" pitchFamily="49" charset="0"/>
                <a:cs typeface="Courier New" pitchFamily="49" charset="0"/>
              </a:rPr>
              <a:t>'/apps/hive/warehouse/</a:t>
            </a:r>
            <a:r>
              <a:rPr lang="en-US" sz="1600" dirty="0" err="1" smtClean="0">
                <a:solidFill>
                  <a:schemeClr val="tx1">
                    <a:lumMod val="65000"/>
                    <a:lumOff val="35000"/>
                  </a:schemeClr>
                </a:solidFill>
                <a:latin typeface="Courier New" pitchFamily="49" charset="0"/>
                <a:cs typeface="Courier New" pitchFamily="49" charset="0"/>
              </a:rPr>
              <a:t>sb_amazon_food_review_db.db</a:t>
            </a:r>
            <a:r>
              <a:rPr lang="en-US" sz="1600" dirty="0" smtClean="0">
                <a:solidFill>
                  <a:schemeClr val="tx1">
                    <a:lumMod val="65000"/>
                    <a:lumOff val="35000"/>
                  </a:schemeClr>
                </a:solidFill>
                <a:latin typeface="Courier New" pitchFamily="49" charset="0"/>
                <a:cs typeface="Courier New" pitchFamily="49" charset="0"/>
              </a:rPr>
              <a:t>/CASE3/</a:t>
            </a:r>
          </a:p>
          <a:p>
            <a:pPr lvl="1">
              <a:buNone/>
            </a:pPr>
            <a:r>
              <a:rPr lang="en-US" sz="1600" dirty="0" smtClean="0">
                <a:solidFill>
                  <a:schemeClr val="tx1">
                    <a:lumMod val="65000"/>
                    <a:lumOff val="35000"/>
                  </a:schemeClr>
                </a:solidFill>
                <a:latin typeface="Courier New" pitchFamily="49" charset="0"/>
                <a:cs typeface="Courier New" pitchFamily="49" charset="0"/>
              </a:rPr>
              <a:t>YEARLY' SELECT ROUND(AVG(</a:t>
            </a:r>
            <a:r>
              <a:rPr lang="en-US" sz="1600" dirty="0" err="1" smtClean="0">
                <a:solidFill>
                  <a:schemeClr val="tx1">
                    <a:lumMod val="65000"/>
                    <a:lumOff val="35000"/>
                  </a:schemeClr>
                </a:solidFill>
                <a:latin typeface="Courier New" pitchFamily="49" charset="0"/>
                <a:cs typeface="Courier New" pitchFamily="49" charset="0"/>
              </a:rPr>
              <a:t>num_of_reviews</a:t>
            </a:r>
            <a:r>
              <a:rPr lang="en-US" sz="1600" dirty="0" smtClean="0">
                <a:solidFill>
                  <a:schemeClr val="tx1">
                    <a:lumMod val="65000"/>
                    <a:lumOff val="35000"/>
                  </a:schemeClr>
                </a:solidFill>
                <a:latin typeface="Courier New" pitchFamily="49" charset="0"/>
                <a:cs typeface="Courier New" pitchFamily="49" charset="0"/>
              </a:rPr>
              <a:t>)) FROM </a:t>
            </a:r>
          </a:p>
          <a:p>
            <a:pPr lvl="1">
              <a:buNone/>
            </a:pPr>
            <a:r>
              <a:rPr lang="en-US" sz="1600" dirty="0" err="1" smtClean="0">
                <a:solidFill>
                  <a:schemeClr val="tx1">
                    <a:lumMod val="65000"/>
                    <a:lumOff val="35000"/>
                  </a:schemeClr>
                </a:solidFill>
                <a:latin typeface="Courier New" pitchFamily="49" charset="0"/>
                <a:cs typeface="Courier New" pitchFamily="49" charset="0"/>
              </a:rPr>
              <a:t>yearly_reviews_data</a:t>
            </a:r>
            <a:r>
              <a:rPr lang="en-US" sz="1600" dirty="0" smtClean="0">
                <a:solidFill>
                  <a:schemeClr val="tx1">
                    <a:lumMod val="65000"/>
                    <a:lumOff val="35000"/>
                  </a:schemeClr>
                </a:solidFill>
                <a:latin typeface="Courier New" pitchFamily="49" charset="0"/>
                <a:cs typeface="Courier New" pitchFamily="49" charset="0"/>
              </a:rPr>
              <a:t>;</a:t>
            </a:r>
          </a:p>
          <a:p>
            <a:pPr>
              <a:buClr>
                <a:srgbClr val="FE8637"/>
              </a:buClr>
              <a:buNone/>
            </a:pPr>
            <a:endParaRPr lang="en-US" sz="2000" b="1" u="sng" dirty="0" smtClean="0">
              <a:solidFill>
                <a:schemeClr val="tx1">
                  <a:lumMod val="65000"/>
                  <a:lumOff val="35000"/>
                </a:schemeClr>
              </a:solidFill>
              <a:latin typeface="Arial" pitchFamily="34" charset="0"/>
              <a:cs typeface="Arial" pitchFamily="34" charset="0"/>
            </a:endParaRPr>
          </a:p>
          <a:p>
            <a:pPr>
              <a:buClr>
                <a:srgbClr val="FE8637"/>
              </a:buClr>
              <a:buNone/>
            </a:pPr>
            <a:r>
              <a:rPr lang="en-US" sz="2000" b="1" u="sng" dirty="0" smtClean="0">
                <a:solidFill>
                  <a:schemeClr val="tx1">
                    <a:lumMod val="65000"/>
                    <a:lumOff val="35000"/>
                  </a:schemeClr>
                </a:solidFill>
                <a:latin typeface="Arial" pitchFamily="34" charset="0"/>
                <a:cs typeface="Arial" pitchFamily="34" charset="0"/>
              </a:rPr>
              <a:t>RESULT:</a:t>
            </a:r>
            <a:r>
              <a:rPr lang="en-US" sz="2000" dirty="0" smtClean="0">
                <a:solidFill>
                  <a:schemeClr val="tx1">
                    <a:lumMod val="65000"/>
                    <a:lumOff val="35000"/>
                  </a:schemeClr>
                </a:solidFill>
                <a:latin typeface="Arial" pitchFamily="34" charset="0"/>
                <a:cs typeface="Arial" pitchFamily="34" charset="0"/>
              </a:rPr>
              <a:t> </a:t>
            </a:r>
            <a:r>
              <a:rPr lang="en-US" sz="2000" dirty="0" smtClean="0">
                <a:solidFill>
                  <a:schemeClr val="tx1">
                    <a:lumMod val="65000"/>
                    <a:lumOff val="35000"/>
                  </a:schemeClr>
                </a:solidFill>
                <a:latin typeface="Courier New" pitchFamily="49" charset="0"/>
                <a:cs typeface="Courier New" pitchFamily="49" charset="0"/>
              </a:rPr>
              <a:t>40604.0</a:t>
            </a:r>
          </a:p>
          <a:p>
            <a:pPr>
              <a:buClr>
                <a:srgbClr val="FE8637"/>
              </a:buClr>
              <a:buNone/>
            </a:pPr>
            <a:endParaRPr lang="en-US" sz="2000" dirty="0" smtClean="0">
              <a:solidFill>
                <a:schemeClr val="tx1">
                  <a:lumMod val="65000"/>
                  <a:lumOff val="35000"/>
                </a:schemeClr>
              </a:solidFill>
              <a:latin typeface="Courier New" pitchFamily="49" charset="0"/>
              <a:cs typeface="Courier New" pitchFamily="49" charset="0"/>
            </a:endParaRPr>
          </a:p>
          <a:p>
            <a:pPr lvl="1">
              <a:buNone/>
            </a:pPr>
            <a:endParaRPr lang="en-US" sz="16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2000" dirty="0" smtClean="0">
                <a:solidFill>
                  <a:schemeClr val="tx1">
                    <a:lumMod val="65000"/>
                    <a:lumOff val="35000"/>
                  </a:schemeClr>
                </a:solidFill>
                <a:latin typeface="Arial" pitchFamily="34" charset="0"/>
                <a:cs typeface="Arial" pitchFamily="34" charset="0"/>
              </a:rPr>
              <a:t>Product sales- festival mapping. By festival mapping we are trying to analyze the top 3 Product IDs that get reviewed the most for each of the major festivals in the USA?</a:t>
            </a:r>
          </a:p>
          <a:p>
            <a:pPr>
              <a:buFont typeface="Wingdings" pitchFamily="2" charset="2"/>
              <a:buChar char="v"/>
            </a:pPr>
            <a:endParaRPr lang="en-US" sz="2000" dirty="0" smtClean="0">
              <a:solidFill>
                <a:schemeClr val="tx1">
                  <a:lumMod val="65000"/>
                  <a:lumOff val="35000"/>
                </a:schemeClr>
              </a:solidFill>
              <a:latin typeface="Arial" pitchFamily="34" charset="0"/>
              <a:cs typeface="Arial" pitchFamily="34" charset="0"/>
            </a:endParaRPr>
          </a:p>
          <a:p>
            <a:pPr>
              <a:buNone/>
            </a:pPr>
            <a:r>
              <a:rPr lang="en-US" sz="1600" dirty="0" smtClean="0">
                <a:solidFill>
                  <a:schemeClr val="tx1">
                    <a:lumMod val="65000"/>
                    <a:lumOff val="35000"/>
                  </a:schemeClr>
                </a:solidFill>
                <a:latin typeface="Courier New" pitchFamily="49" charset="0"/>
                <a:cs typeface="Courier New" pitchFamily="49" charset="0"/>
              </a:rPr>
              <a:t>	CREATE TABLE IF NOT EXISTS </a:t>
            </a:r>
            <a:r>
              <a:rPr lang="en-US" sz="1600" dirty="0" err="1" smtClean="0">
                <a:solidFill>
                  <a:schemeClr val="tx1">
                    <a:lumMod val="65000"/>
                    <a:lumOff val="35000"/>
                  </a:schemeClr>
                </a:solidFill>
                <a:latin typeface="Courier New" pitchFamily="49" charset="0"/>
                <a:cs typeface="Courier New" pitchFamily="49" charset="0"/>
              </a:rPr>
              <a:t>festival_reviews</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STRING,date_yr</a:t>
            </a:r>
            <a:r>
              <a:rPr lang="en-US" sz="1600" dirty="0" smtClean="0">
                <a:solidFill>
                  <a:schemeClr val="tx1">
                    <a:lumMod val="65000"/>
                    <a:lumOff val="35000"/>
                  </a:schemeClr>
                </a:solidFill>
                <a:latin typeface="Courier New" pitchFamily="49" charset="0"/>
                <a:cs typeface="Courier New" pitchFamily="49" charset="0"/>
              </a:rPr>
              <a:t> STRING) ROW FORMAT DELIMITED FIELDS TERMINATED BY ',' LINES TERMINATED BY '\n';</a:t>
            </a:r>
          </a:p>
          <a:p>
            <a:pPr>
              <a:buNone/>
            </a:pPr>
            <a:endParaRPr lang="en-US" sz="1600" dirty="0" smtClean="0">
              <a:solidFill>
                <a:schemeClr val="tx1">
                  <a:lumMod val="65000"/>
                  <a:lumOff val="35000"/>
                </a:schemeClr>
              </a:solidFill>
              <a:latin typeface="Courier New" pitchFamily="49" charset="0"/>
              <a:cs typeface="Courier New" pitchFamily="49"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INSERT OVERWRITE TABLE </a:t>
            </a:r>
            <a:r>
              <a:rPr lang="en-US" sz="1600" dirty="0" err="1" smtClean="0">
                <a:solidFill>
                  <a:schemeClr val="tx1">
                    <a:lumMod val="65000"/>
                    <a:lumOff val="35000"/>
                  </a:schemeClr>
                </a:solidFill>
                <a:latin typeface="Courier New" pitchFamily="49" charset="0"/>
                <a:cs typeface="Courier New" pitchFamily="49" charset="0"/>
              </a:rPr>
              <a:t>festival_reviews</a:t>
            </a:r>
            <a:endParaRPr lang="en-US" sz="1600" dirty="0" smtClean="0">
              <a:solidFill>
                <a:schemeClr val="tx1">
                  <a:lumMod val="65000"/>
                  <a:lumOff val="35000"/>
                </a:schemeClr>
              </a:solidFill>
              <a:latin typeface="Courier New" pitchFamily="49" charset="0"/>
              <a:cs typeface="Courier New" pitchFamily="49"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SELECT </a:t>
            </a:r>
            <a:r>
              <a:rPr lang="en-US" sz="1600" dirty="0" err="1" smtClean="0">
                <a:solidFill>
                  <a:schemeClr val="tx1">
                    <a:lumMod val="65000"/>
                    <a:lumOff val="35000"/>
                  </a:schemeClr>
                </a:solidFill>
                <a:latin typeface="Courier New" pitchFamily="49" charset="0"/>
                <a:cs typeface="Courier New" pitchFamily="49" charset="0"/>
              </a:rPr>
              <a:t>ProductId,Time</a:t>
            </a:r>
            <a:r>
              <a:rPr lang="en-US" sz="1600" dirty="0" smtClean="0">
                <a:solidFill>
                  <a:schemeClr val="tx1">
                    <a:lumMod val="65000"/>
                    <a:lumOff val="35000"/>
                  </a:schemeClr>
                </a:solidFill>
                <a:latin typeface="Courier New" pitchFamily="49" charset="0"/>
                <a:cs typeface="Courier New" pitchFamily="49" charset="0"/>
              </a:rPr>
              <a:t> FROM </a:t>
            </a:r>
            <a:r>
              <a:rPr lang="en-US" sz="1600" dirty="0" err="1" smtClean="0">
                <a:solidFill>
                  <a:schemeClr val="tx1">
                    <a:lumMod val="65000"/>
                    <a:lumOff val="35000"/>
                  </a:schemeClr>
                </a:solidFill>
                <a:latin typeface="Courier New" pitchFamily="49" charset="0"/>
                <a:cs typeface="Courier New" pitchFamily="49" charset="0"/>
              </a:rPr>
              <a:t>amazon_fine_food_table</a:t>
            </a:r>
            <a:r>
              <a:rPr lang="en-US" sz="1600" dirty="0" smtClean="0">
                <a:solidFill>
                  <a:schemeClr val="tx1">
                    <a:lumMod val="65000"/>
                    <a:lumOff val="35000"/>
                  </a:schemeClr>
                </a:solidFill>
                <a:latin typeface="Courier New" pitchFamily="49" charset="0"/>
                <a:cs typeface="Courier New" pitchFamily="49" charset="0"/>
              </a:rPr>
              <a:t> AFFT</a:t>
            </a:r>
          </a:p>
          <a:p>
            <a:pPr lvl="1">
              <a:buNone/>
            </a:pPr>
            <a:r>
              <a:rPr lang="en-US" sz="1600" dirty="0" smtClean="0">
                <a:solidFill>
                  <a:schemeClr val="tx1">
                    <a:lumMod val="65000"/>
                    <a:lumOff val="35000"/>
                  </a:schemeClr>
                </a:solidFill>
                <a:latin typeface="Courier New" pitchFamily="49" charset="0"/>
                <a:cs typeface="Courier New" pitchFamily="49" charset="0"/>
              </a:rPr>
              <a:t>JOIN </a:t>
            </a:r>
            <a:r>
              <a:rPr lang="en-US" sz="1600" dirty="0" err="1" smtClean="0">
                <a:solidFill>
                  <a:schemeClr val="tx1">
                    <a:lumMod val="65000"/>
                    <a:lumOff val="35000"/>
                  </a:schemeClr>
                </a:solidFill>
                <a:latin typeface="Courier New" pitchFamily="49" charset="0"/>
                <a:cs typeface="Courier New" pitchFamily="49" charset="0"/>
              </a:rPr>
              <a:t>american_holidays</a:t>
            </a:r>
            <a:r>
              <a:rPr lang="en-US" sz="1600" dirty="0" smtClean="0">
                <a:solidFill>
                  <a:schemeClr val="tx1">
                    <a:lumMod val="65000"/>
                    <a:lumOff val="35000"/>
                  </a:schemeClr>
                </a:solidFill>
                <a:latin typeface="Courier New" pitchFamily="49" charset="0"/>
                <a:cs typeface="Courier New" pitchFamily="49" charset="0"/>
              </a:rPr>
              <a:t> AH</a:t>
            </a:r>
          </a:p>
          <a:p>
            <a:pPr lvl="1">
              <a:buNone/>
            </a:pPr>
            <a:r>
              <a:rPr lang="en-US" sz="1600" dirty="0" smtClean="0">
                <a:solidFill>
                  <a:schemeClr val="tx1">
                    <a:lumMod val="65000"/>
                    <a:lumOff val="35000"/>
                  </a:schemeClr>
                </a:solidFill>
                <a:latin typeface="Courier New" pitchFamily="49" charset="0"/>
                <a:cs typeface="Courier New" pitchFamily="49" charset="0"/>
              </a:rPr>
              <a:t>ON (</a:t>
            </a:r>
            <a:r>
              <a:rPr lang="en-US" sz="1600" dirty="0" err="1" smtClean="0">
                <a:solidFill>
                  <a:schemeClr val="tx1">
                    <a:lumMod val="65000"/>
                    <a:lumOff val="35000"/>
                  </a:schemeClr>
                </a:solidFill>
                <a:latin typeface="Courier New" pitchFamily="49" charset="0"/>
                <a:cs typeface="Courier New" pitchFamily="49" charset="0"/>
              </a:rPr>
              <a:t>from_unixtime</a:t>
            </a:r>
            <a:r>
              <a:rPr lang="en-US" sz="1600" dirty="0" smtClean="0">
                <a:solidFill>
                  <a:schemeClr val="tx1">
                    <a:lumMod val="65000"/>
                    <a:lumOff val="35000"/>
                  </a:schemeClr>
                </a:solidFill>
                <a:latin typeface="Courier New" pitchFamily="49" charset="0"/>
                <a:cs typeface="Courier New" pitchFamily="49" charset="0"/>
              </a:rPr>
              <a:t>(</a:t>
            </a:r>
            <a:r>
              <a:rPr lang="en-US" sz="1600" dirty="0" err="1" smtClean="0">
                <a:solidFill>
                  <a:schemeClr val="tx1">
                    <a:lumMod val="65000"/>
                    <a:lumOff val="35000"/>
                  </a:schemeClr>
                </a:solidFill>
                <a:latin typeface="Courier New" pitchFamily="49" charset="0"/>
                <a:cs typeface="Courier New" pitchFamily="49" charset="0"/>
              </a:rPr>
              <a:t>unix_timestamp</a:t>
            </a:r>
            <a:r>
              <a:rPr lang="en-US" sz="1600" dirty="0" smtClean="0">
                <a:solidFill>
                  <a:schemeClr val="tx1">
                    <a:lumMod val="65000"/>
                    <a:lumOff val="35000"/>
                  </a:schemeClr>
                </a:solidFill>
                <a:latin typeface="Courier New" pitchFamily="49" charset="0"/>
                <a:cs typeface="Courier New" pitchFamily="49" charset="0"/>
              </a:rPr>
              <a:t>(</a:t>
            </a:r>
            <a:r>
              <a:rPr lang="en-US" sz="1600" dirty="0" err="1" smtClean="0">
                <a:solidFill>
                  <a:schemeClr val="tx1">
                    <a:lumMod val="65000"/>
                    <a:lumOff val="35000"/>
                  </a:schemeClr>
                </a:solidFill>
                <a:latin typeface="Courier New" pitchFamily="49" charset="0"/>
                <a:cs typeface="Courier New" pitchFamily="49" charset="0"/>
              </a:rPr>
              <a:t>AFFT.Time,'yyyy</a:t>
            </a:r>
            <a:r>
              <a:rPr lang="en-US" sz="1600" dirty="0" smtClean="0">
                <a:solidFill>
                  <a:schemeClr val="tx1">
                    <a:lumMod val="65000"/>
                    <a:lumOff val="35000"/>
                  </a:schemeClr>
                </a:solidFill>
                <a:latin typeface="Courier New" pitchFamily="49" charset="0"/>
                <a:cs typeface="Courier New" pitchFamily="49" charset="0"/>
              </a:rPr>
              <a:t>-MM-</a:t>
            </a:r>
            <a:r>
              <a:rPr lang="en-US" sz="1600" dirty="0" err="1" smtClean="0">
                <a:solidFill>
                  <a:schemeClr val="tx1">
                    <a:lumMod val="65000"/>
                    <a:lumOff val="35000"/>
                  </a:schemeClr>
                </a:solidFill>
                <a:latin typeface="Courier New" pitchFamily="49" charset="0"/>
                <a:cs typeface="Courier New" pitchFamily="49" charset="0"/>
              </a:rPr>
              <a:t>dd</a:t>
            </a:r>
            <a:r>
              <a:rPr lang="en-US" sz="1600" dirty="0" smtClean="0">
                <a:solidFill>
                  <a:schemeClr val="tx1">
                    <a:lumMod val="65000"/>
                    <a:lumOff val="35000"/>
                  </a:schemeClr>
                </a:solidFill>
                <a:latin typeface="Courier New" pitchFamily="49" charset="0"/>
                <a:cs typeface="Courier New" pitchFamily="49" charset="0"/>
              </a:rPr>
              <a:t> </a:t>
            </a:r>
            <a:r>
              <a:rPr lang="en-US" sz="1600" dirty="0" err="1" smtClean="0">
                <a:solidFill>
                  <a:schemeClr val="tx1">
                    <a:lumMod val="65000"/>
                    <a:lumOff val="35000"/>
                  </a:schemeClr>
                </a:solidFill>
                <a:latin typeface="Courier New" pitchFamily="49" charset="0"/>
                <a:cs typeface="Courier New" pitchFamily="49" charset="0"/>
              </a:rPr>
              <a:t>hh:mm:ss</a:t>
            </a:r>
            <a:r>
              <a:rPr lang="en-US" sz="1600" dirty="0" smtClean="0">
                <a:solidFill>
                  <a:schemeClr val="tx1">
                    <a:lumMod val="65000"/>
                    <a:lumOff val="35000"/>
                  </a:schemeClr>
                </a:solidFill>
                <a:latin typeface="Courier New" pitchFamily="49" charset="0"/>
                <a:cs typeface="Courier New" pitchFamily="49" charset="0"/>
              </a:rPr>
              <a:t>'),'MM-</a:t>
            </a:r>
            <a:r>
              <a:rPr lang="en-US" sz="1600" dirty="0" err="1" smtClean="0">
                <a:solidFill>
                  <a:schemeClr val="tx1">
                    <a:lumMod val="65000"/>
                    <a:lumOff val="35000"/>
                  </a:schemeClr>
                </a:solidFill>
                <a:latin typeface="Courier New" pitchFamily="49" charset="0"/>
                <a:cs typeface="Courier New" pitchFamily="49" charset="0"/>
              </a:rPr>
              <a:t>dd</a:t>
            </a:r>
            <a:r>
              <a:rPr lang="en-US" sz="1600" dirty="0" smtClean="0">
                <a:solidFill>
                  <a:schemeClr val="tx1">
                    <a:lumMod val="65000"/>
                    <a:lumOff val="35000"/>
                  </a:schemeClr>
                </a:solidFill>
                <a:latin typeface="Courier New" pitchFamily="49" charset="0"/>
                <a:cs typeface="Courier New" pitchFamily="49" charset="0"/>
              </a:rPr>
              <a:t>') = </a:t>
            </a:r>
            <a:r>
              <a:rPr lang="en-US" sz="1600" dirty="0" err="1" smtClean="0">
                <a:solidFill>
                  <a:schemeClr val="tx1">
                    <a:lumMod val="65000"/>
                    <a:lumOff val="35000"/>
                  </a:schemeClr>
                </a:solidFill>
                <a:latin typeface="Courier New" pitchFamily="49" charset="0"/>
                <a:cs typeface="Courier New" pitchFamily="49" charset="0"/>
              </a:rPr>
              <a:t>AH.holiday_date</a:t>
            </a:r>
            <a:r>
              <a:rPr lang="en-US" sz="1600" dirty="0" smtClean="0">
                <a:solidFill>
                  <a:schemeClr val="tx1">
                    <a:lumMod val="65000"/>
                    <a:lumOff val="35000"/>
                  </a:schemeClr>
                </a:solidFill>
                <a:latin typeface="Courier New" pitchFamily="49" charset="0"/>
                <a:cs typeface="Courier New" pitchFamily="49" charset="0"/>
              </a:rPr>
              <a:t>);</a:t>
            </a:r>
          </a:p>
          <a:p>
            <a:pPr lvl="1">
              <a:buNone/>
            </a:pPr>
            <a:endParaRPr lang="en-US" sz="1600" dirty="0" smtClean="0">
              <a:solidFill>
                <a:schemeClr val="tx1">
                  <a:lumMod val="65000"/>
                  <a:lumOff val="35000"/>
                </a:schemeClr>
              </a:solidFill>
              <a:latin typeface="Courier New" pitchFamily="49" charset="0"/>
              <a:cs typeface="Courier New" pitchFamily="49" charset="0"/>
            </a:endParaRPr>
          </a:p>
          <a:p>
            <a:pPr lvl="1">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solidFill>
                <a:schemeClr val="tx1">
                  <a:lumMod val="65000"/>
                  <a:lumOff val="35000"/>
                </a:schemeClr>
              </a:solidFill>
              <a:latin typeface="Courier New" pitchFamily="49" charset="0"/>
              <a:cs typeface="Courier New" pitchFamily="49" charset="0"/>
            </a:endParaRPr>
          </a:p>
          <a:p>
            <a:pPr lvl="2">
              <a:buNone/>
            </a:pPr>
            <a:endParaRPr lang="en-US" sz="1600" b="1" u="sng" dirty="0" smtClean="0">
              <a:solidFill>
                <a:schemeClr val="tx1">
                  <a:lumMod val="65000"/>
                  <a:lumOff val="35000"/>
                </a:schemeClr>
              </a:solidFill>
              <a:latin typeface="Courier New" pitchFamily="49" charset="0"/>
              <a:cs typeface="Courier New" pitchFamily="49" charset="0"/>
            </a:endParaRPr>
          </a:p>
          <a:p>
            <a:pPr lvl="2">
              <a:buNone/>
            </a:pPr>
            <a:endParaRPr lang="en-US" sz="1600" dirty="0" smtClean="0">
              <a:latin typeface="Courier New" pitchFamily="49" charset="0"/>
              <a:cs typeface="Courier New" pitchFamily="49" charset="0"/>
            </a:endParaRPr>
          </a:p>
          <a:p>
            <a:pPr>
              <a:buNone/>
            </a:pPr>
            <a:endParaRPr lang="en-US" sz="1600" dirty="0" smtClean="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latin typeface="Arial Black" pitchFamily="34" charset="0"/>
              </a:rPr>
              <a:t>Business Questions Answered (contd.)</a:t>
            </a:r>
            <a:endParaRPr lang="en-US" dirty="0"/>
          </a:p>
        </p:txBody>
      </p:sp>
      <p:sp>
        <p:nvSpPr>
          <p:cNvPr id="3" name="Content Placeholder 2"/>
          <p:cNvSpPr>
            <a:spLocks noGrp="1"/>
          </p:cNvSpPr>
          <p:nvPr>
            <p:ph sz="quarter" idx="1"/>
          </p:nvPr>
        </p:nvSpPr>
        <p:spPr/>
        <p:txBody>
          <a:bodyPr>
            <a:normAutofit/>
          </a:bodyPr>
          <a:lstStyle/>
          <a:p>
            <a:pPr lvl="1">
              <a:buNone/>
            </a:pPr>
            <a:r>
              <a:rPr lang="en-US" sz="1600" dirty="0" smtClean="0">
                <a:solidFill>
                  <a:schemeClr val="tx1">
                    <a:lumMod val="65000"/>
                    <a:lumOff val="35000"/>
                  </a:schemeClr>
                </a:solidFill>
                <a:latin typeface="Courier New" pitchFamily="49" charset="0"/>
                <a:cs typeface="Courier New" pitchFamily="49" charset="0"/>
              </a:rPr>
              <a:t>	INSERT OVERWRITE DIRECTORY '/apps/hive/warehouse/</a:t>
            </a:r>
            <a:r>
              <a:rPr lang="en-US" sz="1600" dirty="0" err="1" smtClean="0">
                <a:solidFill>
                  <a:schemeClr val="tx1">
                    <a:lumMod val="65000"/>
                    <a:lumOff val="35000"/>
                  </a:schemeClr>
                </a:solidFill>
                <a:latin typeface="Courier New" pitchFamily="49" charset="0"/>
                <a:cs typeface="Courier New" pitchFamily="49" charset="0"/>
              </a:rPr>
              <a:t>sb_amazon_food_review_db.db</a:t>
            </a:r>
            <a:r>
              <a:rPr lang="en-US" sz="1600" dirty="0" smtClean="0">
                <a:solidFill>
                  <a:schemeClr val="tx1">
                    <a:lumMod val="65000"/>
                    <a:lumOff val="35000"/>
                  </a:schemeClr>
                </a:solidFill>
                <a:latin typeface="Courier New" pitchFamily="49" charset="0"/>
                <a:cs typeface="Courier New" pitchFamily="49" charset="0"/>
              </a:rPr>
              <a:t>/CASE4'</a:t>
            </a:r>
          </a:p>
          <a:p>
            <a:pPr lvl="1">
              <a:buNone/>
            </a:pPr>
            <a:r>
              <a:rPr lang="en-US" sz="1600" dirty="0" smtClean="0">
                <a:solidFill>
                  <a:schemeClr val="tx1">
                    <a:lumMod val="65000"/>
                    <a:lumOff val="35000"/>
                  </a:schemeClr>
                </a:solidFill>
                <a:latin typeface="Courier New" pitchFamily="49" charset="0"/>
                <a:cs typeface="Courier New" pitchFamily="49" charset="0"/>
              </a:rPr>
              <a:t>	SELECT </a:t>
            </a: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count(*) as </a:t>
            </a:r>
            <a:r>
              <a:rPr lang="en-US" sz="1600" dirty="0" err="1" smtClean="0">
                <a:solidFill>
                  <a:schemeClr val="tx1">
                    <a:lumMod val="65000"/>
                    <a:lumOff val="35000"/>
                  </a:schemeClr>
                </a:solidFill>
                <a:latin typeface="Courier New" pitchFamily="49" charset="0"/>
                <a:cs typeface="Courier New" pitchFamily="49" charset="0"/>
              </a:rPr>
              <a:t>review_count</a:t>
            </a:r>
            <a:r>
              <a:rPr lang="en-US" sz="1600" dirty="0" smtClean="0">
                <a:solidFill>
                  <a:schemeClr val="tx1">
                    <a:lumMod val="65000"/>
                    <a:lumOff val="35000"/>
                  </a:schemeClr>
                </a:solidFill>
                <a:latin typeface="Courier New" pitchFamily="49" charset="0"/>
                <a:cs typeface="Courier New" pitchFamily="49" charset="0"/>
              </a:rPr>
              <a:t> FROM </a:t>
            </a:r>
            <a:r>
              <a:rPr lang="en-US" sz="1600" dirty="0" err="1" smtClean="0">
                <a:solidFill>
                  <a:schemeClr val="tx1">
                    <a:lumMod val="65000"/>
                    <a:lumOff val="35000"/>
                  </a:schemeClr>
                </a:solidFill>
                <a:latin typeface="Courier New" pitchFamily="49" charset="0"/>
                <a:cs typeface="Courier New" pitchFamily="49" charset="0"/>
              </a:rPr>
              <a:t>festival_reviews</a:t>
            </a:r>
            <a:r>
              <a:rPr lang="en-US" sz="1600" dirty="0" smtClean="0">
                <a:solidFill>
                  <a:schemeClr val="tx1">
                    <a:lumMod val="65000"/>
                    <a:lumOff val="35000"/>
                  </a:schemeClr>
                </a:solidFill>
                <a:latin typeface="Courier New" pitchFamily="49" charset="0"/>
                <a:cs typeface="Courier New" pitchFamily="49" charset="0"/>
              </a:rPr>
              <a:t> </a:t>
            </a:r>
          </a:p>
          <a:p>
            <a:pPr lvl="1">
              <a:buNone/>
            </a:pPr>
            <a:r>
              <a:rPr lang="en-US" sz="1600" dirty="0" smtClean="0">
                <a:solidFill>
                  <a:schemeClr val="tx1">
                    <a:lumMod val="65000"/>
                    <a:lumOff val="35000"/>
                  </a:schemeClr>
                </a:solidFill>
                <a:latin typeface="Courier New" pitchFamily="49" charset="0"/>
                <a:cs typeface="Courier New" pitchFamily="49" charset="0"/>
              </a:rPr>
              <a:t>	WHERE </a:t>
            </a:r>
            <a:r>
              <a:rPr lang="en-US" sz="1600" dirty="0" err="1" smtClean="0">
                <a:solidFill>
                  <a:schemeClr val="tx1">
                    <a:lumMod val="65000"/>
                    <a:lumOff val="35000"/>
                  </a:schemeClr>
                </a:solidFill>
                <a:latin typeface="Courier New" pitchFamily="49" charset="0"/>
                <a:cs typeface="Courier New" pitchFamily="49" charset="0"/>
              </a:rPr>
              <a:t>ProductId</a:t>
            </a:r>
            <a:r>
              <a:rPr lang="en-US" sz="1600" dirty="0" smtClean="0">
                <a:solidFill>
                  <a:schemeClr val="tx1">
                    <a:lumMod val="65000"/>
                    <a:lumOff val="35000"/>
                  </a:schemeClr>
                </a:solidFill>
                <a:latin typeface="Courier New" pitchFamily="49" charset="0"/>
                <a:cs typeface="Courier New" pitchFamily="49" charset="0"/>
              </a:rPr>
              <a:t> IS NOT NULL</a:t>
            </a:r>
          </a:p>
          <a:p>
            <a:pPr lvl="1">
              <a:buNone/>
            </a:pPr>
            <a:r>
              <a:rPr lang="en-US" sz="1600" dirty="0" smtClean="0">
                <a:solidFill>
                  <a:schemeClr val="tx1">
                    <a:lumMod val="65000"/>
                    <a:lumOff val="35000"/>
                  </a:schemeClr>
                </a:solidFill>
                <a:latin typeface="Courier New" pitchFamily="49" charset="0"/>
                <a:cs typeface="Courier New" pitchFamily="49" charset="0"/>
              </a:rPr>
              <a:t>	GROUP BY </a:t>
            </a:r>
            <a:r>
              <a:rPr lang="en-US" sz="1600" dirty="0" err="1" smtClean="0">
                <a:solidFill>
                  <a:schemeClr val="tx1">
                    <a:lumMod val="65000"/>
                    <a:lumOff val="35000"/>
                  </a:schemeClr>
                </a:solidFill>
                <a:latin typeface="Courier New" pitchFamily="49" charset="0"/>
                <a:cs typeface="Courier New" pitchFamily="49" charset="0"/>
              </a:rPr>
              <a:t>ProductId</a:t>
            </a:r>
            <a:endParaRPr lang="en-US" sz="1600" dirty="0" smtClean="0">
              <a:solidFill>
                <a:schemeClr val="tx1">
                  <a:lumMod val="65000"/>
                  <a:lumOff val="35000"/>
                </a:schemeClr>
              </a:solidFill>
              <a:latin typeface="Courier New" pitchFamily="49" charset="0"/>
              <a:cs typeface="Courier New" pitchFamily="49" charset="0"/>
            </a:endParaRPr>
          </a:p>
          <a:p>
            <a:pPr lvl="1">
              <a:buNone/>
            </a:pPr>
            <a:r>
              <a:rPr lang="en-US" sz="1600" dirty="0" smtClean="0">
                <a:solidFill>
                  <a:schemeClr val="tx1">
                    <a:lumMod val="65000"/>
                    <a:lumOff val="35000"/>
                  </a:schemeClr>
                </a:solidFill>
                <a:latin typeface="Courier New" pitchFamily="49" charset="0"/>
                <a:cs typeface="Courier New" pitchFamily="49" charset="0"/>
              </a:rPr>
              <a:t>	ORDER BY </a:t>
            </a:r>
            <a:r>
              <a:rPr lang="en-US" sz="1600" dirty="0" err="1" smtClean="0">
                <a:solidFill>
                  <a:schemeClr val="tx1">
                    <a:lumMod val="65000"/>
                    <a:lumOff val="35000"/>
                  </a:schemeClr>
                </a:solidFill>
                <a:latin typeface="Courier New" pitchFamily="49" charset="0"/>
                <a:cs typeface="Courier New" pitchFamily="49" charset="0"/>
              </a:rPr>
              <a:t>review_count</a:t>
            </a:r>
            <a:r>
              <a:rPr lang="en-US" sz="1600" dirty="0" smtClean="0">
                <a:solidFill>
                  <a:schemeClr val="tx1">
                    <a:lumMod val="65000"/>
                    <a:lumOff val="35000"/>
                  </a:schemeClr>
                </a:solidFill>
                <a:latin typeface="Courier New" pitchFamily="49" charset="0"/>
                <a:cs typeface="Courier New" pitchFamily="49" charset="0"/>
              </a:rPr>
              <a:t> DESC</a:t>
            </a:r>
          </a:p>
          <a:p>
            <a:pPr lvl="1">
              <a:buNone/>
            </a:pPr>
            <a:r>
              <a:rPr lang="en-US" sz="1600" dirty="0" smtClean="0">
                <a:solidFill>
                  <a:schemeClr val="tx1">
                    <a:lumMod val="65000"/>
                    <a:lumOff val="35000"/>
                  </a:schemeClr>
                </a:solidFill>
                <a:latin typeface="Courier New" pitchFamily="49" charset="0"/>
                <a:cs typeface="Courier New" pitchFamily="49" charset="0"/>
              </a:rPr>
              <a:t>	LIMIT 3;</a:t>
            </a:r>
          </a:p>
          <a:p>
            <a:pPr lvl="1">
              <a:buNone/>
            </a:pPr>
            <a:endParaRPr lang="en-US" sz="1600" dirty="0" smtClean="0">
              <a:solidFill>
                <a:schemeClr val="tx1">
                  <a:lumMod val="65000"/>
                  <a:lumOff val="35000"/>
                </a:schemeClr>
              </a:solidFill>
              <a:latin typeface="Arial" pitchFamily="34" charset="0"/>
              <a:cs typeface="Arial" pitchFamily="34" charset="0"/>
            </a:endParaRPr>
          </a:p>
          <a:p>
            <a:pPr>
              <a:buNone/>
            </a:pPr>
            <a:r>
              <a:rPr lang="en-US" sz="2000" b="1" u="sng" dirty="0" smtClean="0">
                <a:solidFill>
                  <a:schemeClr val="tx1">
                    <a:lumMod val="65000"/>
                    <a:lumOff val="35000"/>
                  </a:schemeClr>
                </a:solidFill>
                <a:latin typeface="Arial" pitchFamily="34" charset="0"/>
                <a:cs typeface="Arial" pitchFamily="34" charset="0"/>
              </a:rPr>
              <a:t>RESULT:</a:t>
            </a:r>
          </a:p>
          <a:p>
            <a:pPr>
              <a:buNone/>
            </a:pPr>
            <a:endParaRPr lang="en-US" sz="1600" b="1" u="sng" dirty="0" smtClean="0">
              <a:solidFill>
                <a:schemeClr val="tx1">
                  <a:lumMod val="65000"/>
                  <a:lumOff val="35000"/>
                </a:schemeClr>
              </a:solidFill>
              <a:latin typeface="Arial" pitchFamily="34" charset="0"/>
              <a:cs typeface="Arial" pitchFamily="34" charset="0"/>
            </a:endParaRPr>
          </a:p>
          <a:p>
            <a:pPr>
              <a:buNone/>
            </a:pPr>
            <a:r>
              <a:rPr lang="en-US" sz="1600" dirty="0" smtClean="0">
                <a:solidFill>
                  <a:schemeClr val="tx1">
                    <a:lumMod val="65000"/>
                    <a:lumOff val="35000"/>
                  </a:schemeClr>
                </a:solidFill>
                <a:latin typeface="Courier New" pitchFamily="49" charset="0"/>
                <a:cs typeface="Courier New" pitchFamily="49" charset="0"/>
              </a:rPr>
              <a:t>B001OCKIP0      33</a:t>
            </a:r>
          </a:p>
          <a:p>
            <a:pPr>
              <a:buNone/>
            </a:pPr>
            <a:r>
              <a:rPr lang="en-US" sz="1600" dirty="0" smtClean="0">
                <a:solidFill>
                  <a:schemeClr val="tx1">
                    <a:lumMod val="65000"/>
                    <a:lumOff val="35000"/>
                  </a:schemeClr>
                </a:solidFill>
                <a:latin typeface="Courier New" pitchFamily="49" charset="0"/>
                <a:cs typeface="Courier New" pitchFamily="49" charset="0"/>
              </a:rPr>
              <a:t>B001EQ55RW      18</a:t>
            </a:r>
          </a:p>
          <a:p>
            <a:pPr>
              <a:buNone/>
            </a:pPr>
            <a:r>
              <a:rPr lang="en-US" sz="1600" dirty="0" smtClean="0">
                <a:solidFill>
                  <a:schemeClr val="tx1">
                    <a:lumMod val="65000"/>
                    <a:lumOff val="35000"/>
                  </a:schemeClr>
                </a:solidFill>
                <a:latin typeface="Courier New" pitchFamily="49" charset="0"/>
                <a:cs typeface="Courier New" pitchFamily="49" charset="0"/>
              </a:rPr>
              <a:t>B005HG9ERW      10</a:t>
            </a:r>
            <a:endParaRPr lang="en-US" sz="1600" dirty="0" smtClean="0">
              <a:solidFill>
                <a:schemeClr val="tx1">
                  <a:lumMod val="65000"/>
                  <a:lumOff val="35000"/>
                </a:schemeClr>
              </a:solidFill>
              <a:latin typeface="Arial" pitchFamily="34" charset="0"/>
              <a:cs typeface="Arial" pitchFamily="34" charset="0"/>
            </a:endParaRPr>
          </a:p>
          <a:p>
            <a:pPr>
              <a:buNone/>
            </a:pPr>
            <a:endParaRPr lang="en-US" sz="2000" dirty="0" smtClean="0">
              <a:solidFill>
                <a:schemeClr val="tx1">
                  <a:lumMod val="75000"/>
                  <a:lumOff val="25000"/>
                </a:schemeClr>
              </a:solidFill>
              <a:latin typeface="Arial" pitchFamily="34" charset="0"/>
              <a:cs typeface="Arial" pitchFamily="34" charset="0"/>
            </a:endParaRPr>
          </a:p>
          <a:p>
            <a:pPr>
              <a:buNone/>
            </a:pPr>
            <a:endParaRPr lang="en-US" sz="2000" dirty="0">
              <a:solidFill>
                <a:schemeClr val="tx1">
                  <a:lumMod val="75000"/>
                  <a:lumOff val="2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itchFamily="34" charset="0"/>
                <a:cs typeface="Arial" pitchFamily="34" charset="0"/>
              </a:rPr>
              <a:t>Errors Encountered</a:t>
            </a:r>
            <a:endParaRPr lang="en-US" sz="2800" dirty="0">
              <a:latin typeface="Arial Black" pitchFamily="34" charset="0"/>
              <a:cs typeface="Arial" pitchFamily="34"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v"/>
            </a:pPr>
            <a:r>
              <a:rPr lang="en-US" sz="1400" dirty="0" smtClean="0">
                <a:solidFill>
                  <a:schemeClr val="tx1">
                    <a:lumMod val="65000"/>
                    <a:lumOff val="35000"/>
                  </a:schemeClr>
                </a:solidFill>
                <a:latin typeface="Arial" pitchFamily="34" charset="0"/>
                <a:cs typeface="Arial" pitchFamily="34" charset="0"/>
              </a:rPr>
              <a:t>hive (</a:t>
            </a:r>
            <a:r>
              <a:rPr lang="en-US" sz="1400" dirty="0" err="1" smtClean="0">
                <a:solidFill>
                  <a:schemeClr val="tx1">
                    <a:lumMod val="65000"/>
                    <a:lumOff val="35000"/>
                  </a:schemeClr>
                </a:solidFill>
                <a:latin typeface="Arial" pitchFamily="34" charset="0"/>
                <a:cs typeface="Arial" pitchFamily="34" charset="0"/>
              </a:rPr>
              <a:t>sb_amazon_sample_data</a:t>
            </a:r>
            <a:r>
              <a:rPr lang="en-US" sz="1400" dirty="0" smtClean="0">
                <a:solidFill>
                  <a:schemeClr val="tx1">
                    <a:lumMod val="65000"/>
                    <a:lumOff val="35000"/>
                  </a:schemeClr>
                </a:solidFill>
                <a:latin typeface="Arial" pitchFamily="34" charset="0"/>
                <a:cs typeface="Arial" pitchFamily="34" charset="0"/>
              </a:rPr>
              <a:t>)&gt; INSERT OVERWRITE TABLE amazon_sample_table1 &gt; SELECT CAST(Id as INT),</a:t>
            </a:r>
            <a:r>
              <a:rPr lang="en-US" sz="1400" dirty="0" err="1" smtClean="0">
                <a:solidFill>
                  <a:schemeClr val="tx1">
                    <a:lumMod val="65000"/>
                    <a:lumOff val="35000"/>
                  </a:schemeClr>
                </a:solidFill>
                <a:latin typeface="Arial" pitchFamily="34" charset="0"/>
                <a:cs typeface="Arial" pitchFamily="34" charset="0"/>
              </a:rPr>
              <a:t>ProductId,UserId,CAST</a:t>
            </a:r>
            <a:r>
              <a:rPr lang="en-US" sz="1400" dirty="0" smtClean="0">
                <a:solidFill>
                  <a:schemeClr val="tx1">
                    <a:lumMod val="65000"/>
                    <a:lumOff val="35000"/>
                  </a:schemeClr>
                </a:solidFill>
                <a:latin typeface="Arial" pitchFamily="34" charset="0"/>
                <a:cs typeface="Arial" pitchFamily="34" charset="0"/>
              </a:rPr>
              <a:t>(</a:t>
            </a:r>
            <a:r>
              <a:rPr lang="en-US" sz="1400" dirty="0" err="1" smtClean="0">
                <a:solidFill>
                  <a:schemeClr val="tx1">
                    <a:lumMod val="65000"/>
                    <a:lumOff val="35000"/>
                  </a:schemeClr>
                </a:solidFill>
                <a:latin typeface="Arial" pitchFamily="34" charset="0"/>
                <a:cs typeface="Arial" pitchFamily="34" charset="0"/>
              </a:rPr>
              <a:t>HelpfulnessNumerator</a:t>
            </a:r>
            <a:r>
              <a:rPr lang="en-US" sz="1400" dirty="0" smtClean="0">
                <a:solidFill>
                  <a:schemeClr val="tx1">
                    <a:lumMod val="65000"/>
                    <a:lumOff val="35000"/>
                  </a:schemeClr>
                </a:solidFill>
                <a:latin typeface="Arial" pitchFamily="34" charset="0"/>
                <a:cs typeface="Arial" pitchFamily="34" charset="0"/>
              </a:rPr>
              <a:t> AS INT),CAST(</a:t>
            </a:r>
            <a:r>
              <a:rPr lang="en-US" sz="1400" dirty="0" err="1" smtClean="0">
                <a:solidFill>
                  <a:schemeClr val="tx1">
                    <a:lumMod val="65000"/>
                    <a:lumOff val="35000"/>
                  </a:schemeClr>
                </a:solidFill>
                <a:latin typeface="Arial" pitchFamily="34" charset="0"/>
                <a:cs typeface="Arial" pitchFamily="34" charset="0"/>
              </a:rPr>
              <a:t>HelpfulnessDenominator</a:t>
            </a:r>
            <a:r>
              <a:rPr lang="en-US" sz="1400" dirty="0" smtClean="0">
                <a:solidFill>
                  <a:schemeClr val="tx1">
                    <a:lumMod val="65000"/>
                    <a:lumOff val="35000"/>
                  </a:schemeClr>
                </a:solidFill>
                <a:latin typeface="Arial" pitchFamily="34" charset="0"/>
                <a:cs typeface="Arial" pitchFamily="34" charset="0"/>
              </a:rPr>
              <a:t> AS INT),CAST(Score AS INT),</a:t>
            </a:r>
          </a:p>
          <a:p>
            <a:pPr>
              <a:buNone/>
            </a:pPr>
            <a:r>
              <a:rPr lang="en-US" sz="1400" dirty="0" smtClean="0">
                <a:solidFill>
                  <a:schemeClr val="tx1">
                    <a:lumMod val="65000"/>
                    <a:lumOff val="35000"/>
                  </a:schemeClr>
                </a:solidFill>
                <a:latin typeface="Arial" pitchFamily="34" charset="0"/>
                <a:cs typeface="Arial" pitchFamily="34" charset="0"/>
              </a:rPr>
              <a:t>	FROM_UNIXTIME(Time) FROM </a:t>
            </a:r>
            <a:r>
              <a:rPr lang="en-US" sz="1400" dirty="0" err="1" smtClean="0">
                <a:solidFill>
                  <a:schemeClr val="tx1">
                    <a:lumMod val="65000"/>
                    <a:lumOff val="35000"/>
                  </a:schemeClr>
                </a:solidFill>
                <a:latin typeface="Arial" pitchFamily="34" charset="0"/>
                <a:cs typeface="Arial" pitchFamily="34" charset="0"/>
              </a:rPr>
              <a:t>amazon_sample_table</a:t>
            </a:r>
            <a:r>
              <a:rPr lang="en-US" sz="1400" dirty="0" smtClean="0">
                <a:solidFill>
                  <a:schemeClr val="tx1">
                    <a:lumMod val="65000"/>
                    <a:lumOff val="35000"/>
                  </a:schemeClr>
                </a:solidFill>
                <a:latin typeface="Arial" pitchFamily="34" charset="0"/>
                <a:cs typeface="Arial" pitchFamily="34" charset="0"/>
              </a:rPr>
              <a:t>;</a:t>
            </a:r>
          </a:p>
          <a:p>
            <a:pPr>
              <a:buNone/>
            </a:pPr>
            <a:r>
              <a:rPr lang="en-US" sz="1400" dirty="0" smtClean="0">
                <a:solidFill>
                  <a:schemeClr val="tx1">
                    <a:lumMod val="65000"/>
                    <a:lumOff val="35000"/>
                  </a:schemeClr>
                </a:solidFill>
                <a:latin typeface="Arial" pitchFamily="34" charset="0"/>
                <a:cs typeface="Arial" pitchFamily="34" charset="0"/>
              </a:rPr>
              <a:t>	FAILED: </a:t>
            </a:r>
            <a:r>
              <a:rPr lang="en-US" sz="1400" dirty="0" err="1" smtClean="0">
                <a:solidFill>
                  <a:schemeClr val="tx1">
                    <a:lumMod val="65000"/>
                    <a:lumOff val="35000"/>
                  </a:schemeClr>
                </a:solidFill>
                <a:latin typeface="Arial" pitchFamily="34" charset="0"/>
                <a:cs typeface="Arial" pitchFamily="34" charset="0"/>
              </a:rPr>
              <a:t>SemanticException</a:t>
            </a:r>
            <a:r>
              <a:rPr lang="en-US" sz="1400" dirty="0" smtClean="0">
                <a:solidFill>
                  <a:schemeClr val="tx1">
                    <a:lumMod val="65000"/>
                    <a:lumOff val="35000"/>
                  </a:schemeClr>
                </a:solidFill>
                <a:latin typeface="Arial" pitchFamily="34" charset="0"/>
                <a:cs typeface="Arial" pitchFamily="34" charset="0"/>
              </a:rPr>
              <a:t> [Error 10014]: Line 2:129 Wrong arguments 'Time': </a:t>
            </a:r>
          </a:p>
          <a:p>
            <a:pPr>
              <a:buNone/>
            </a:pPr>
            <a:r>
              <a:rPr lang="en-US" sz="1400" dirty="0" smtClean="0">
                <a:solidFill>
                  <a:schemeClr val="tx1">
                    <a:lumMod val="65000"/>
                    <a:lumOff val="35000"/>
                  </a:schemeClr>
                </a:solidFill>
                <a:latin typeface="Arial" pitchFamily="34" charset="0"/>
                <a:cs typeface="Arial" pitchFamily="34" charset="0"/>
              </a:rPr>
              <a:t>	No matching method for class </a:t>
            </a:r>
            <a:r>
              <a:rPr lang="en-US" sz="1400" dirty="0" err="1" smtClean="0">
                <a:solidFill>
                  <a:schemeClr val="tx1">
                    <a:lumMod val="65000"/>
                    <a:lumOff val="35000"/>
                  </a:schemeClr>
                </a:solidFill>
                <a:latin typeface="Arial" pitchFamily="34" charset="0"/>
                <a:cs typeface="Arial" pitchFamily="34" charset="0"/>
              </a:rPr>
              <a:t>org.apache.hadoop.hive.ql.udf.UDFFromUnixTime</a:t>
            </a:r>
            <a:r>
              <a:rPr lang="en-US" sz="1400" dirty="0" smtClean="0">
                <a:solidFill>
                  <a:schemeClr val="tx1">
                    <a:lumMod val="65000"/>
                    <a:lumOff val="35000"/>
                  </a:schemeClr>
                </a:solidFill>
                <a:latin typeface="Arial" pitchFamily="34" charset="0"/>
                <a:cs typeface="Arial" pitchFamily="34" charset="0"/>
              </a:rPr>
              <a:t> with (string). </a:t>
            </a:r>
          </a:p>
          <a:p>
            <a:pPr>
              <a:buNone/>
            </a:pPr>
            <a:r>
              <a:rPr lang="en-US" sz="1400" dirty="0" smtClean="0">
                <a:solidFill>
                  <a:schemeClr val="tx1">
                    <a:lumMod val="65000"/>
                    <a:lumOff val="35000"/>
                  </a:schemeClr>
                </a:solidFill>
                <a:latin typeface="Arial" pitchFamily="34" charset="0"/>
                <a:cs typeface="Arial" pitchFamily="34" charset="0"/>
              </a:rPr>
              <a:t>	Possible choices: _FUNC_(</a:t>
            </a:r>
            <a:r>
              <a:rPr lang="en-US" sz="1400" dirty="0" err="1" smtClean="0">
                <a:solidFill>
                  <a:schemeClr val="tx1">
                    <a:lumMod val="65000"/>
                    <a:lumOff val="35000"/>
                  </a:schemeClr>
                </a:solidFill>
                <a:latin typeface="Arial" pitchFamily="34" charset="0"/>
                <a:cs typeface="Arial" pitchFamily="34" charset="0"/>
              </a:rPr>
              <a:t>bigint</a:t>
            </a:r>
            <a:r>
              <a:rPr lang="en-US" sz="1400" dirty="0" smtClean="0">
                <a:solidFill>
                  <a:schemeClr val="tx1">
                    <a:lumMod val="65000"/>
                    <a:lumOff val="35000"/>
                  </a:schemeClr>
                </a:solidFill>
                <a:latin typeface="Arial" pitchFamily="34" charset="0"/>
                <a:cs typeface="Arial" pitchFamily="34" charset="0"/>
              </a:rPr>
              <a:t>)  _FUNC_(</a:t>
            </a:r>
            <a:r>
              <a:rPr lang="en-US" sz="1400" dirty="0" err="1" smtClean="0">
                <a:solidFill>
                  <a:schemeClr val="tx1">
                    <a:lumMod val="65000"/>
                    <a:lumOff val="35000"/>
                  </a:schemeClr>
                </a:solidFill>
                <a:latin typeface="Arial" pitchFamily="34" charset="0"/>
                <a:cs typeface="Arial" pitchFamily="34" charset="0"/>
              </a:rPr>
              <a:t>bigint</a:t>
            </a:r>
            <a:r>
              <a:rPr lang="en-US" sz="1400" dirty="0" smtClean="0">
                <a:solidFill>
                  <a:schemeClr val="tx1">
                    <a:lumMod val="65000"/>
                    <a:lumOff val="35000"/>
                  </a:schemeClr>
                </a:solidFill>
                <a:latin typeface="Arial" pitchFamily="34" charset="0"/>
                <a:cs typeface="Arial" pitchFamily="34" charset="0"/>
              </a:rPr>
              <a:t>, string)  _FUNC_(</a:t>
            </a:r>
            <a:r>
              <a:rPr lang="en-US" sz="1400" dirty="0" err="1" smtClean="0">
                <a:solidFill>
                  <a:schemeClr val="tx1">
                    <a:lumMod val="65000"/>
                    <a:lumOff val="35000"/>
                  </a:schemeClr>
                </a:solidFill>
                <a:latin typeface="Arial" pitchFamily="34" charset="0"/>
                <a:cs typeface="Arial" pitchFamily="34" charset="0"/>
              </a:rPr>
              <a:t>int</a:t>
            </a:r>
            <a:r>
              <a:rPr lang="en-US" sz="1400" dirty="0" smtClean="0">
                <a:solidFill>
                  <a:schemeClr val="tx1">
                    <a:lumMod val="65000"/>
                    <a:lumOff val="35000"/>
                  </a:schemeClr>
                </a:solidFill>
                <a:latin typeface="Arial" pitchFamily="34" charset="0"/>
                <a:cs typeface="Arial" pitchFamily="34" charset="0"/>
              </a:rPr>
              <a:t>)  _FUNC_(</a:t>
            </a:r>
            <a:r>
              <a:rPr lang="en-US" sz="1400" dirty="0" err="1" smtClean="0">
                <a:solidFill>
                  <a:schemeClr val="tx1">
                    <a:lumMod val="65000"/>
                    <a:lumOff val="35000"/>
                  </a:schemeClr>
                </a:solidFill>
                <a:latin typeface="Arial" pitchFamily="34" charset="0"/>
                <a:cs typeface="Arial" pitchFamily="34" charset="0"/>
              </a:rPr>
              <a:t>int</a:t>
            </a:r>
            <a:r>
              <a:rPr lang="en-US" sz="1400" dirty="0" smtClean="0">
                <a:solidFill>
                  <a:schemeClr val="tx1">
                    <a:lumMod val="65000"/>
                    <a:lumOff val="35000"/>
                  </a:schemeClr>
                </a:solidFill>
                <a:latin typeface="Arial" pitchFamily="34" charset="0"/>
                <a:cs typeface="Arial" pitchFamily="34" charset="0"/>
              </a:rPr>
              <a:t>, string) </a:t>
            </a:r>
          </a:p>
          <a:p>
            <a:pPr>
              <a:buNone/>
            </a:pPr>
            <a:r>
              <a:rPr lang="en-US" sz="1400" dirty="0" smtClean="0">
                <a:solidFill>
                  <a:schemeClr val="tx1">
                    <a:lumMod val="65000"/>
                    <a:lumOff val="35000"/>
                  </a:schemeClr>
                </a:solidFill>
                <a:latin typeface="Arial" pitchFamily="34" charset="0"/>
                <a:cs typeface="Arial" pitchFamily="34" charset="0"/>
              </a:rPr>
              <a:t>	</a:t>
            </a:r>
          </a:p>
          <a:p>
            <a:pPr>
              <a:buNone/>
            </a:pPr>
            <a:r>
              <a:rPr lang="en-US" sz="1400" dirty="0" smtClean="0">
                <a:solidFill>
                  <a:schemeClr val="tx1">
                    <a:lumMod val="65000"/>
                    <a:lumOff val="35000"/>
                  </a:schemeClr>
                </a:solidFill>
                <a:latin typeface="Arial" pitchFamily="34" charset="0"/>
                <a:cs typeface="Arial" pitchFamily="34" charset="0"/>
              </a:rPr>
              <a:t>	</a:t>
            </a:r>
            <a:r>
              <a:rPr lang="en-US" sz="1400" b="1" u="sng" dirty="0" smtClean="0">
                <a:solidFill>
                  <a:schemeClr val="tx1">
                    <a:lumMod val="65000"/>
                    <a:lumOff val="35000"/>
                  </a:schemeClr>
                </a:solidFill>
                <a:latin typeface="Arial" pitchFamily="34" charset="0"/>
                <a:cs typeface="Arial" pitchFamily="34" charset="0"/>
              </a:rPr>
              <a:t>Reason:</a:t>
            </a:r>
            <a:r>
              <a:rPr lang="en-US" sz="1400" dirty="0" smtClean="0">
                <a:solidFill>
                  <a:schemeClr val="tx1">
                    <a:lumMod val="65000"/>
                    <a:lumOff val="35000"/>
                  </a:schemeClr>
                </a:solidFill>
                <a:latin typeface="Arial" pitchFamily="34" charset="0"/>
                <a:cs typeface="Arial" pitchFamily="34" charset="0"/>
              </a:rPr>
              <a:t>  Incorrect arguments were passed to FROM_UNIXTIME function. </a:t>
            </a:r>
          </a:p>
          <a:p>
            <a:pPr>
              <a:buNone/>
            </a:pPr>
            <a:endParaRPr lang="en-US" sz="1400" dirty="0" smtClean="0">
              <a:solidFill>
                <a:schemeClr val="tx1">
                  <a:lumMod val="65000"/>
                  <a:lumOff val="35000"/>
                </a:schemeClr>
              </a:solidFill>
              <a:latin typeface="Arial" pitchFamily="34" charset="0"/>
              <a:cs typeface="Arial" pitchFamily="34" charset="0"/>
            </a:endParaRPr>
          </a:p>
          <a:p>
            <a:pPr>
              <a:buFont typeface="Wingdings" pitchFamily="2" charset="2"/>
              <a:buChar char="v"/>
            </a:pPr>
            <a:r>
              <a:rPr lang="en-US" sz="1400" dirty="0" smtClean="0">
                <a:solidFill>
                  <a:schemeClr val="tx1">
                    <a:lumMod val="65000"/>
                    <a:lumOff val="35000"/>
                  </a:schemeClr>
                </a:solidFill>
                <a:latin typeface="Arial" pitchFamily="34" charset="0"/>
                <a:cs typeface="Arial" pitchFamily="34" charset="0"/>
              </a:rPr>
              <a:t>hive (</a:t>
            </a:r>
            <a:r>
              <a:rPr lang="en-US" sz="1400" dirty="0" err="1" smtClean="0">
                <a:solidFill>
                  <a:schemeClr val="tx1">
                    <a:lumMod val="65000"/>
                    <a:lumOff val="35000"/>
                  </a:schemeClr>
                </a:solidFill>
                <a:latin typeface="Arial" pitchFamily="34" charset="0"/>
                <a:cs typeface="Arial" pitchFamily="34" charset="0"/>
              </a:rPr>
              <a:t>sb_amazon_sample_data</a:t>
            </a:r>
            <a:r>
              <a:rPr lang="en-US" sz="1400" dirty="0" smtClean="0">
                <a:solidFill>
                  <a:schemeClr val="tx1">
                    <a:lumMod val="65000"/>
                    <a:lumOff val="35000"/>
                  </a:schemeClr>
                </a:solidFill>
                <a:latin typeface="Arial" pitchFamily="34" charset="0"/>
                <a:cs typeface="Arial" pitchFamily="34" charset="0"/>
              </a:rPr>
              <a:t>)&gt; SELECT Time, count(*) as </a:t>
            </a:r>
            <a:r>
              <a:rPr lang="en-US" sz="1400" dirty="0" err="1" smtClean="0">
                <a:solidFill>
                  <a:schemeClr val="tx1">
                    <a:lumMod val="65000"/>
                    <a:lumOff val="35000"/>
                  </a:schemeClr>
                </a:solidFill>
                <a:latin typeface="Arial" pitchFamily="34" charset="0"/>
                <a:cs typeface="Arial" pitchFamily="34" charset="0"/>
              </a:rPr>
              <a:t>daily_rep</a:t>
            </a:r>
            <a:r>
              <a:rPr lang="en-US" sz="1400" dirty="0" smtClean="0">
                <a:solidFill>
                  <a:schemeClr val="tx1">
                    <a:lumMod val="65000"/>
                    <a:lumOff val="35000"/>
                  </a:schemeClr>
                </a:solidFill>
                <a:latin typeface="Arial" pitchFamily="34" charset="0"/>
                <a:cs typeface="Arial" pitchFamily="34" charset="0"/>
              </a:rPr>
              <a:t> FROM amazon_sample_table1 GROUP BY YEAR(Time);FAILED: </a:t>
            </a:r>
          </a:p>
          <a:p>
            <a:pPr>
              <a:buNone/>
            </a:pPr>
            <a:r>
              <a:rPr lang="en-US" sz="1400" dirty="0" smtClean="0">
                <a:solidFill>
                  <a:schemeClr val="tx1">
                    <a:lumMod val="65000"/>
                    <a:lumOff val="35000"/>
                  </a:schemeClr>
                </a:solidFill>
                <a:latin typeface="Arial" pitchFamily="34" charset="0"/>
                <a:cs typeface="Arial" pitchFamily="34" charset="0"/>
              </a:rPr>
              <a:t>	</a:t>
            </a:r>
            <a:r>
              <a:rPr lang="en-US" sz="1400" dirty="0" err="1" smtClean="0">
                <a:solidFill>
                  <a:schemeClr val="tx1">
                    <a:lumMod val="65000"/>
                    <a:lumOff val="35000"/>
                  </a:schemeClr>
                </a:solidFill>
                <a:latin typeface="Arial" pitchFamily="34" charset="0"/>
                <a:cs typeface="Arial" pitchFamily="34" charset="0"/>
              </a:rPr>
              <a:t>SemanticException</a:t>
            </a:r>
            <a:r>
              <a:rPr lang="en-US" sz="1400" dirty="0" smtClean="0">
                <a:solidFill>
                  <a:schemeClr val="tx1">
                    <a:lumMod val="65000"/>
                    <a:lumOff val="35000"/>
                  </a:schemeClr>
                </a:solidFill>
                <a:latin typeface="Arial" pitchFamily="34" charset="0"/>
                <a:cs typeface="Arial" pitchFamily="34" charset="0"/>
              </a:rPr>
              <a:t> [Error 10025]: Line 1:7 Expression not in GROUP BY key 'Time'</a:t>
            </a:r>
          </a:p>
          <a:p>
            <a:pPr>
              <a:buNone/>
            </a:pPr>
            <a:r>
              <a:rPr lang="en-US" sz="1400" dirty="0" smtClean="0">
                <a:solidFill>
                  <a:schemeClr val="tx1">
                    <a:lumMod val="65000"/>
                    <a:lumOff val="35000"/>
                  </a:schemeClr>
                </a:solidFill>
                <a:latin typeface="Arial" pitchFamily="34" charset="0"/>
                <a:cs typeface="Arial" pitchFamily="34" charset="0"/>
              </a:rPr>
              <a:t>	</a:t>
            </a:r>
          </a:p>
          <a:p>
            <a:pPr>
              <a:buNone/>
            </a:pPr>
            <a:r>
              <a:rPr lang="en-US" sz="1400" dirty="0" smtClean="0">
                <a:solidFill>
                  <a:schemeClr val="tx1">
                    <a:lumMod val="65000"/>
                    <a:lumOff val="35000"/>
                  </a:schemeClr>
                </a:solidFill>
                <a:latin typeface="Arial" pitchFamily="34" charset="0"/>
                <a:cs typeface="Arial" pitchFamily="34" charset="0"/>
              </a:rPr>
              <a:t>	</a:t>
            </a:r>
            <a:r>
              <a:rPr lang="en-US" sz="1400" b="1" u="sng" dirty="0" smtClean="0">
                <a:solidFill>
                  <a:schemeClr val="tx1">
                    <a:lumMod val="65000"/>
                    <a:lumOff val="35000"/>
                  </a:schemeClr>
                </a:solidFill>
                <a:latin typeface="Arial" pitchFamily="34" charset="0"/>
                <a:cs typeface="Arial" pitchFamily="34" charset="0"/>
              </a:rPr>
              <a:t>Reason:</a:t>
            </a:r>
            <a:r>
              <a:rPr lang="en-US" sz="1400" dirty="0" smtClean="0">
                <a:solidFill>
                  <a:schemeClr val="tx1">
                    <a:lumMod val="65000"/>
                    <a:lumOff val="35000"/>
                  </a:schemeClr>
                </a:solidFill>
                <a:latin typeface="Arial" pitchFamily="34" charset="0"/>
                <a:cs typeface="Arial" pitchFamily="34" charset="0"/>
              </a:rPr>
              <a:t>  the group by should have all the fields selected in a Query.</a:t>
            </a:r>
            <a:endParaRPr lang="en-US" sz="1400" dirty="0">
              <a:solidFill>
                <a:schemeClr val="tx1">
                  <a:lumMod val="65000"/>
                  <a:lumOff val="3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GettyImages-185002046-5772f4153df78cb62ce1ad69.jpg"/>
          <p:cNvPicPr>
            <a:picLocks noGrp="1" noChangeAspect="1"/>
          </p:cNvPicPr>
          <p:nvPr>
            <p:ph sz="quarter" idx="1"/>
          </p:nvPr>
        </p:nvPicPr>
        <p:blipFill>
          <a:blip r:embed="rId2" cstate="print"/>
          <a:stretch>
            <a:fillRect/>
          </a:stretch>
        </p:blipFill>
        <p:spPr>
          <a:xfrm>
            <a:off x="535781" y="1600200"/>
            <a:ext cx="7310438" cy="4873625"/>
          </a:xfr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569</TotalTime>
  <Words>613</Words>
  <Application>Microsoft Office PowerPoint</Application>
  <PresentationFormat>On-screen Show (4:3)</PresentationFormat>
  <Paragraphs>261</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Oriel</vt:lpstr>
      <vt:lpstr>Amazon Fine Food Reviews</vt:lpstr>
      <vt:lpstr>Project Done By</vt:lpstr>
      <vt:lpstr>Project Introduction</vt:lpstr>
      <vt:lpstr>Dataset Description</vt:lpstr>
      <vt:lpstr>Technical Architecture</vt:lpstr>
      <vt:lpstr>DATA handling</vt:lpstr>
      <vt:lpstr>DATA Handling (contd.)</vt:lpstr>
      <vt:lpstr>Data handling (contd.)</vt:lpstr>
      <vt:lpstr>Data handling (contd.)</vt:lpstr>
      <vt:lpstr>Business Questions Answered </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Business Questions Answered (contd.)</vt:lpstr>
      <vt:lpstr>Errors Encountered</vt:lpstr>
      <vt:lpstr>Slide 20</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customer churn using telco dataset</dc:title>
  <dc:creator>Shubhro</dc:creator>
  <cp:lastModifiedBy>Shubhro</cp:lastModifiedBy>
  <cp:revision>81</cp:revision>
  <dcterms:created xsi:type="dcterms:W3CDTF">2018-01-06T07:00:44Z</dcterms:created>
  <dcterms:modified xsi:type="dcterms:W3CDTF">2018-01-09T18:11:18Z</dcterms:modified>
</cp:coreProperties>
</file>